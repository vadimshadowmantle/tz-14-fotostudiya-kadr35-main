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2" d="100"/>
          <a:sy n="72" d="100"/>
        </p:scale>
        <p:origin x="66" y="13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89332B7-93F2-4450-B263-842CDF9D5BA6}" type="datetimeFigureOut">
              <a:rPr lang="ru-RU" smtClean="0"/>
              <a:t>31.10.2026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F79AF6-F053-40E4-8472-E15365A642B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903226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mtClean="0"/>
              <a:t>Здравствуйте. Моя работа — сайт бронирования залов для фотостудии «Кадр 35» и сквозная аналитика заявок: от перехода по ссылке в соцсети до строки в таблице. Расскажу, какую проблему решал, как устроено решение и что показали данные.</a:t>
            </a:r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5F79AF6-F053-40E4-8472-E15365A642B7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1149259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Брони велись вручную в календаре администратора, заявки приходили в </a:t>
            </a:r>
            <a:r>
              <a:rPr lang="ru-RU" dirty="0" err="1" smtClean="0"/>
              <a:t>Instagram</a:t>
            </a:r>
            <a:r>
              <a:rPr lang="ru-RU" dirty="0" smtClean="0"/>
              <a:t>, </a:t>
            </a:r>
            <a:r>
              <a:rPr lang="ru-RU" dirty="0" err="1" smtClean="0"/>
              <a:t>Telegram</a:t>
            </a:r>
            <a:r>
              <a:rPr lang="ru-RU" dirty="0" smtClean="0"/>
              <a:t> и по телефону. Отсюда двойные брони и долгие ответы. Студия тратит 30 тысяч в месяц на продвижение, но не знает, какой канал приносит клиентов. А Новогодний зал в прошлом декабре был занят почти полностью — значит, спрос есть, нужна удобная бронь.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5F79AF6-F053-40E4-8472-E15365A642B7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662921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Посетитель приходит из </a:t>
            </a:r>
            <a:r>
              <a:rPr lang="ru-RU" dirty="0" err="1" smtClean="0"/>
              <a:t>соцсетей</a:t>
            </a:r>
            <a:r>
              <a:rPr lang="ru-RU" dirty="0" smtClean="0"/>
              <a:t> или по QR-коду по ссылке с UTM-метками, либо получает ссылку в </a:t>
            </a:r>
            <a:r>
              <a:rPr lang="ru-RU" dirty="0" err="1" smtClean="0"/>
              <a:t>Direct</a:t>
            </a:r>
            <a:r>
              <a:rPr lang="ru-RU" dirty="0" smtClean="0"/>
              <a:t> от автоответа </a:t>
            </a:r>
            <a:r>
              <a:rPr lang="ru-RU" dirty="0" err="1" smtClean="0"/>
              <a:t>ManyChat</a:t>
            </a:r>
            <a:r>
              <a:rPr lang="ru-RU" dirty="0" smtClean="0"/>
              <a:t>. Сайт отправляет события в </a:t>
            </a:r>
            <a:r>
              <a:rPr lang="ru-RU" dirty="0" err="1" smtClean="0"/>
              <a:t>Google</a:t>
            </a:r>
            <a:r>
              <a:rPr lang="ru-RU" dirty="0" smtClean="0"/>
              <a:t> </a:t>
            </a:r>
            <a:r>
              <a:rPr lang="ru-RU" dirty="0" err="1" smtClean="0"/>
              <a:t>Analytics</a:t>
            </a:r>
            <a:r>
              <a:rPr lang="ru-RU" dirty="0" smtClean="0"/>
              <a:t> 4, а бронь — через </a:t>
            </a:r>
            <a:r>
              <a:rPr lang="ru-RU" dirty="0" err="1" smtClean="0"/>
              <a:t>Apps</a:t>
            </a:r>
            <a:r>
              <a:rPr lang="ru-RU" dirty="0" smtClean="0"/>
              <a:t> </a:t>
            </a:r>
            <a:r>
              <a:rPr lang="ru-RU" dirty="0" err="1" smtClean="0"/>
              <a:t>Script</a:t>
            </a:r>
            <a:r>
              <a:rPr lang="ru-RU" dirty="0" smtClean="0"/>
              <a:t> в </a:t>
            </a:r>
            <a:r>
              <a:rPr lang="ru-RU" dirty="0" err="1" smtClean="0"/>
              <a:t>Google</a:t>
            </a:r>
            <a:r>
              <a:rPr lang="ru-RU" dirty="0" smtClean="0"/>
              <a:t> Таблицу вместе с метками. Так у каждой заявки виден источник.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5F79AF6-F053-40E4-8472-E15365A642B7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2688214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mtClean="0"/>
              <a:t>Сайт статический: HTML, CSS и JavaScript без сборки, опубликован на Vercel и обновляется после каждого push. Девять страниц плюс 404, адаптивность под телефон. Lighthouse в мобильном режиме: производительность 83, доступность и SEO по 100.</a:t>
            </a:r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5F79AF6-F053-40E4-8472-E15365A642B7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6893277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mtClean="0"/>
              <a:t>Главная страница сценария — бронь. Посетитель выбирает зал, дату, время и число часов, занятые часы выбрать нельзя. Цена считается по часам: утром в будни скидка 20 процентов. Пример из испытаний: Циклорама, 10 утра, 2 часа — 3 520 рублей, и в GA4 приходит событие slot_select с этой суммой.</a:t>
            </a:r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5F79AF6-F053-40E4-8472-E15365A642B7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4680352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mtClean="0"/>
              <a:t>Здесь путь одной заявки. Человек приходит по ссылке с UTM-метками, сайт сохраняет их на время сессии, и при отправке формы они попадают в таблицу вместе с бронью. После ответа приёмника ok:true в GA4 уходит ключевое событие generate_lead. Это можно показать вживую.</a:t>
            </a:r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5F79AF6-F053-40E4-8472-E15365A642B7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6147327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Под </a:t>
            </a:r>
            <a:r>
              <a:rPr lang="ru-RU" dirty="0" err="1" smtClean="0"/>
              <a:t>Reel</a:t>
            </a:r>
            <a:r>
              <a:rPr lang="ru-RU" dirty="0" smtClean="0"/>
              <a:t> работают две ветки автоответов </a:t>
            </a:r>
            <a:r>
              <a:rPr lang="ru-RU" dirty="0" err="1" smtClean="0"/>
              <a:t>ManyChat</a:t>
            </a:r>
            <a:r>
              <a:rPr lang="ru-RU" dirty="0" smtClean="0"/>
              <a:t>. На слово ИДЕИ человек получает ответ в комментариях и сообщение в </a:t>
            </a:r>
            <a:r>
              <a:rPr lang="ru-RU" dirty="0" err="1" smtClean="0"/>
              <a:t>Direct</a:t>
            </a:r>
            <a:r>
              <a:rPr lang="ru-RU" dirty="0" smtClean="0"/>
              <a:t> с кнопкой на страницу идей, на слово СЕМЬЯ — на семейных фотографов с уже включённым фильтром. Ссылки кнопок взяты из реестра UTM, поэтому в таблице видно, какая ветка привела заявку.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5F79AF6-F053-40E4-8472-E15365A642B7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0524480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mtClean="0"/>
              <a:t>В GA4 настроено 20 событий, 14 из них свои. Все вызовы собраны в одном файле analytics.js, кнопки размечены атрибутами data-event. Зарегистрировано 7 пользовательских параметров, ключевые события — заявка, клик по контакту и по мессенджеру. Каждое событие проверено в DebugView.</a:t>
            </a:r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5F79AF6-F053-40E4-8472-E15365A642B7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3093903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mtClean="0"/>
              <a:t>Все ссылки собраны в реестре: 12 строк, у каждой своя комбинация меток. Восемь опубликованы — в Instagram, ВКонтакте и Telegram, для афиши сделан QR-код. По заявкам из ВКонтакте в таблице видно, с какого именно поста пришёл человек.</a:t>
            </a:r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5F79AF6-F053-40E4-8472-E15365A642B7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205795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Воронка из пяти шагов показала главную потерю на первом шаге: девять из десяти посетителей не открывают ни одной карточки зала. На телефоне до заявки не дошёл никто, на компьютере — один из семи. Гипотеза: на телефоне не видно, где выбрать зал. Проверить можно, добавив кнопку на первый экран и сравнив воронку по устройствам до и после. Данных мало, все визиты — проверочные, это ограничение.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5F79AF6-F053-40E4-8472-E15365A642B7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3701992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mtClean="0"/>
              <a:t>Итог для бизнеса: свободное время видно на сайте, цена считается сразу, все брони в одной таблице со статусом, а у каждой брони есть канал и конкретный пост. Рекомендация: месяц собирать заявки с метками и потом перераспределить бюджет в канал, который даёт больше всего состоявшихся броней.</a:t>
            </a:r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5F79AF6-F053-40E4-8472-E15365A642B7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6583004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5F79AF6-F053-40E4-8472-E15365A642B7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88955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9E1660-7F06-4EE5-BCB1-0847768AFA7E}" type="datetimeFigureOut">
              <a:rPr lang="ru-RU" smtClean="0"/>
              <a:t>31.10.2026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A2D0AC-5A5B-4106-A17D-BA6B6FB86C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012322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9E1660-7F06-4EE5-BCB1-0847768AFA7E}" type="datetimeFigureOut">
              <a:rPr lang="ru-RU" smtClean="0"/>
              <a:t>31.10.2026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A2D0AC-5A5B-4106-A17D-BA6B6FB86C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075587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9E1660-7F06-4EE5-BCB1-0847768AFA7E}" type="datetimeFigureOut">
              <a:rPr lang="ru-RU" smtClean="0"/>
              <a:t>31.10.2026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A2D0AC-5A5B-4106-A17D-BA6B6FB86C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315315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9E1660-7F06-4EE5-BCB1-0847768AFA7E}" type="datetimeFigureOut">
              <a:rPr lang="ru-RU" smtClean="0"/>
              <a:t>31.10.2026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A2D0AC-5A5B-4106-A17D-BA6B6FB86C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057259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9E1660-7F06-4EE5-BCB1-0847768AFA7E}" type="datetimeFigureOut">
              <a:rPr lang="ru-RU" smtClean="0"/>
              <a:t>31.10.2026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A2D0AC-5A5B-4106-A17D-BA6B6FB86C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372793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9E1660-7F06-4EE5-BCB1-0847768AFA7E}" type="datetimeFigureOut">
              <a:rPr lang="ru-RU" smtClean="0"/>
              <a:t>31.10.2026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A2D0AC-5A5B-4106-A17D-BA6B6FB86C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940966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9E1660-7F06-4EE5-BCB1-0847768AFA7E}" type="datetimeFigureOut">
              <a:rPr lang="ru-RU" smtClean="0"/>
              <a:t>31.10.2026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A2D0AC-5A5B-4106-A17D-BA6B6FB86C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287877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9E1660-7F06-4EE5-BCB1-0847768AFA7E}" type="datetimeFigureOut">
              <a:rPr lang="ru-RU" smtClean="0"/>
              <a:t>31.10.2026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A2D0AC-5A5B-4106-A17D-BA6B6FB86C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09966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9E1660-7F06-4EE5-BCB1-0847768AFA7E}" type="datetimeFigureOut">
              <a:rPr lang="ru-RU" smtClean="0"/>
              <a:t>31.10.2026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A2D0AC-5A5B-4106-A17D-BA6B6FB86C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180976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9E1660-7F06-4EE5-BCB1-0847768AFA7E}" type="datetimeFigureOut">
              <a:rPr lang="ru-RU" smtClean="0"/>
              <a:t>31.10.2026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A2D0AC-5A5B-4106-A17D-BA6B6FB86C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792879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9E1660-7F06-4EE5-BCB1-0847768AFA7E}" type="datetimeFigureOut">
              <a:rPr lang="ru-RU" smtClean="0"/>
              <a:t>31.10.2026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A2D0AC-5A5B-4106-A17D-BA6B6FB86C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9574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9E1660-7F06-4EE5-BCB1-0847768AFA7E}" type="datetimeFigureOut">
              <a:rPr lang="ru-RU" smtClean="0"/>
              <a:t>31.10.2026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9A2D0AC-5A5B-4106-A17D-BA6B6FB86CD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537829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D3D9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 descr="Новогодний зал студии"/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69000" y="0"/>
            <a:ext cx="6223000" cy="6858000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0" y="0"/>
            <a:ext cx="5969000" cy="6858000"/>
          </a:xfrm>
          <a:prstGeom prst="rect">
            <a:avLst/>
          </a:prstGeom>
          <a:solidFill>
            <a:srgbClr val="3D3D9E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Скругленный прямоугольник 3"/>
          <p:cNvSpPr/>
          <p:nvPr/>
        </p:nvSpPr>
        <p:spPr>
          <a:xfrm>
            <a:off x="609600" y="609600"/>
            <a:ext cx="711200" cy="711200"/>
          </a:xfrm>
          <a:prstGeom prst="roundRect">
            <a:avLst>
              <a:gd name="adj" fmla="val 22000"/>
            </a:avLst>
          </a:prstGeom>
          <a:solidFill>
            <a:srgbClr val="2E2E7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200" b="1" smtClean="0">
                <a:solidFill>
                  <a:srgbClr val="F2C14E"/>
                </a:solidFill>
                <a:latin typeface="Segoe UI Semibold" panose="020B0702040204020203" pitchFamily="34" charset="0"/>
              </a:rPr>
              <a:t>35</a:t>
            </a:r>
            <a:endParaRPr lang="ru-RU" sz="2200" b="1">
              <a:solidFill>
                <a:srgbClr val="F2C14E"/>
              </a:solidFill>
              <a:latin typeface="Segoe UI Semibold" panose="020B0702040204020203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09600" y="1778000"/>
            <a:ext cx="4811059" cy="190948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3000" b="1" dirty="0" smtClean="0">
                <a:solidFill>
                  <a:srgbClr val="FFFFFF"/>
                </a:solidFill>
                <a:latin typeface="Segoe UI Semibold" panose="020B0702040204020203" pitchFamily="34" charset="0"/>
              </a:rPr>
              <a:t>Сайт бронирования залов и сквозная аналитика заявок для фотостудии «Кадр 35»</a:t>
            </a:r>
            <a:endParaRPr lang="ru-RU" sz="3000" b="1" dirty="0">
              <a:solidFill>
                <a:srgbClr val="FFFFFF"/>
              </a:solidFill>
              <a:latin typeface="Segoe UI Semibold" panose="020B0702040204020203" pitchFamily="34" charset="0"/>
            </a:endParaRPr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609600" y="4191000"/>
            <a:ext cx="4953000" cy="431800"/>
          </a:xfrm>
          <a:prstGeom prst="roundRect">
            <a:avLst>
              <a:gd name="adj" fmla="val 50000"/>
            </a:avLst>
          </a:prstGeom>
          <a:solidFill>
            <a:srgbClr val="F2C14E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600" b="1" dirty="0" smtClean="0">
                <a:solidFill>
                  <a:srgbClr val="1E1E24"/>
                </a:solidFill>
                <a:latin typeface="Segoe UI" panose="020B0502040204020203" pitchFamily="34" charset="0"/>
              </a:rPr>
              <a:t>ТЗ № ТЗ-14/2026 · ОП.03</a:t>
            </a:r>
            <a:endParaRPr lang="ru-RU" sz="1600" b="1" dirty="0">
              <a:solidFill>
                <a:srgbClr val="1E1E24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09599" y="4978399"/>
            <a:ext cx="4996329" cy="693271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2000" dirty="0" smtClean="0">
                <a:solidFill>
                  <a:srgbClr val="ECEAF6"/>
                </a:solidFill>
                <a:latin typeface="Segoe UI" panose="020B0502040204020203" pitchFamily="34" charset="0"/>
              </a:rPr>
              <a:t>Бурмистров Вадим Александрович</a:t>
            </a:r>
          </a:p>
          <a:p>
            <a:r>
              <a:rPr lang="ru-RU" sz="2000" dirty="0" smtClean="0">
                <a:solidFill>
                  <a:srgbClr val="ECEAF6"/>
                </a:solidFill>
                <a:latin typeface="Segoe UI" panose="020B0502040204020203" pitchFamily="34" charset="0"/>
              </a:rPr>
              <a:t>группа 11/1-РПО-26/1</a:t>
            </a:r>
            <a:endParaRPr lang="ru-RU" sz="2000" dirty="0">
              <a:solidFill>
                <a:srgbClr val="ECEAF6"/>
              </a:solidFill>
              <a:latin typeface="Segoe UI" panose="020B0502040204020203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0820400" y="6451600"/>
            <a:ext cx="76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ru-RU" sz="1200" smtClean="0">
                <a:solidFill>
                  <a:srgbClr val="CFCDE0"/>
                </a:solidFill>
                <a:latin typeface="Segoe UI" panose="020B0502040204020203" pitchFamily="34" charset="0"/>
              </a:rPr>
              <a:t>1</a:t>
            </a:r>
            <a:endParaRPr lang="ru-RU" sz="1200">
              <a:solidFill>
                <a:srgbClr val="CFCDE0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01288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600" y="4318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3200" b="1" smtClean="0">
                <a:solidFill>
                  <a:srgbClr val="1E1E24"/>
                </a:solidFill>
                <a:latin typeface="Segoe UI Semibold" panose="020B0702040204020203" pitchFamily="34" charset="0"/>
              </a:rPr>
              <a:t>Проблема заказчика</a:t>
            </a:r>
            <a:endParaRPr lang="ru-RU" sz="3200" b="1">
              <a:solidFill>
                <a:srgbClr val="1E1E24"/>
              </a:solidFill>
              <a:latin typeface="Segoe UI Semibold" panose="020B0702040204020203" pitchFamily="34" charset="0"/>
            </a:endParaRPr>
          </a:p>
        </p:txBody>
      </p:sp>
      <p:sp>
        <p:nvSpPr>
          <p:cNvPr id="3" name="Скругленный прямоугольник 2"/>
          <p:cNvSpPr/>
          <p:nvPr/>
        </p:nvSpPr>
        <p:spPr>
          <a:xfrm>
            <a:off x="609600" y="1422400"/>
            <a:ext cx="5410200" cy="203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>
            <a:outerShdw blurRad="152400" dist="38100" dir="5400000" rotWithShape="0">
              <a:srgbClr val="1E1E24">
                <a:alpha val="15000"/>
              </a:srgbClr>
            </a:outerShdw>
          </a:effectLst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extBox 3"/>
          <p:cNvSpPr txBox="1"/>
          <p:nvPr/>
        </p:nvSpPr>
        <p:spPr>
          <a:xfrm>
            <a:off x="914400" y="1676400"/>
            <a:ext cx="482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4400" b="1" smtClean="0">
                <a:solidFill>
                  <a:srgbClr val="3D3D9E"/>
                </a:solidFill>
                <a:latin typeface="Segoe UI Semibold" panose="020B0702040204020203" pitchFamily="34" charset="0"/>
              </a:rPr>
              <a:t>2</a:t>
            </a:r>
            <a:endParaRPr lang="ru-RU" sz="4400" b="1">
              <a:solidFill>
                <a:srgbClr val="3D3D9E"/>
              </a:solidFill>
              <a:latin typeface="Segoe UI Semibold" panose="020B0702040204020203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914400" y="2514600"/>
            <a:ext cx="482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2000" smtClean="0">
                <a:solidFill>
                  <a:srgbClr val="5B5B66"/>
                </a:solidFill>
                <a:latin typeface="Segoe UI" panose="020B0502040204020203" pitchFamily="34" charset="0"/>
              </a:rPr>
              <a:t>двойные брони одного зала в сентябре 2026</a:t>
            </a:r>
            <a:endParaRPr lang="ru-RU" sz="2000">
              <a:solidFill>
                <a:srgbClr val="5B5B66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Скругленный прямоугольник 5"/>
          <p:cNvSpPr/>
          <p:nvPr/>
        </p:nvSpPr>
        <p:spPr>
          <a:xfrm>
            <a:off x="6172200" y="1422400"/>
            <a:ext cx="5410200" cy="203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>
            <a:outerShdw blurRad="152400" dist="38100" dir="5400000" rotWithShape="0">
              <a:srgbClr val="1E1E24">
                <a:alpha val="15000"/>
              </a:srgbClr>
            </a:outerShdw>
          </a:effectLst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TextBox 6"/>
          <p:cNvSpPr txBox="1"/>
          <p:nvPr/>
        </p:nvSpPr>
        <p:spPr>
          <a:xfrm>
            <a:off x="6477000" y="1676400"/>
            <a:ext cx="482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4400" b="1" smtClean="0">
                <a:solidFill>
                  <a:srgbClr val="3D3D9E"/>
                </a:solidFill>
                <a:latin typeface="Segoe UI Semibold" panose="020B0702040204020203" pitchFamily="34" charset="0"/>
              </a:rPr>
              <a:t>≈ 60</a:t>
            </a:r>
            <a:endParaRPr lang="ru-RU" sz="4400" b="1">
              <a:solidFill>
                <a:srgbClr val="3D3D9E"/>
              </a:solidFill>
              <a:latin typeface="Segoe UI Semibold" panose="020B0702040204020203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477000" y="2514600"/>
            <a:ext cx="482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2000" smtClean="0">
                <a:solidFill>
                  <a:srgbClr val="5B5B66"/>
                </a:solidFill>
                <a:latin typeface="Segoe UI" panose="020B0502040204020203" pitchFamily="34" charset="0"/>
              </a:rPr>
              <a:t>вопросов о свободном времени — ответ позже чем через час</a:t>
            </a:r>
            <a:endParaRPr lang="ru-RU" sz="2000">
              <a:solidFill>
                <a:srgbClr val="5B5B66"/>
              </a:solidFill>
              <a:latin typeface="Segoe UI" panose="020B0502040204020203" pitchFamily="34" charset="0"/>
            </a:endParaRPr>
          </a:p>
        </p:txBody>
      </p:sp>
      <p:sp>
        <p:nvSpPr>
          <p:cNvPr id="9" name="Скругленный прямоугольник 8"/>
          <p:cNvSpPr/>
          <p:nvPr/>
        </p:nvSpPr>
        <p:spPr>
          <a:xfrm>
            <a:off x="609600" y="3657600"/>
            <a:ext cx="5410200" cy="203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>
            <a:outerShdw blurRad="152400" dist="38100" dir="5400000" rotWithShape="0">
              <a:srgbClr val="1E1E24">
                <a:alpha val="15000"/>
              </a:srgbClr>
            </a:outerShdw>
          </a:effectLst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TextBox 9"/>
          <p:cNvSpPr txBox="1"/>
          <p:nvPr/>
        </p:nvSpPr>
        <p:spPr>
          <a:xfrm>
            <a:off x="914400" y="3911600"/>
            <a:ext cx="482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4400" b="1" smtClean="0">
                <a:solidFill>
                  <a:srgbClr val="3D3D9E"/>
                </a:solidFill>
                <a:latin typeface="Segoe UI Semibold" panose="020B0702040204020203" pitchFamily="34" charset="0"/>
              </a:rPr>
              <a:t>30 000 ₽</a:t>
            </a:r>
            <a:endParaRPr lang="ru-RU" sz="4400" b="1">
              <a:solidFill>
                <a:srgbClr val="3D3D9E"/>
              </a:solidFill>
              <a:latin typeface="Segoe UI Semibold" panose="020B0702040204020203" pitchFamily="34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914400" y="4749800"/>
            <a:ext cx="482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2000" smtClean="0">
                <a:solidFill>
                  <a:srgbClr val="5B5B66"/>
                </a:solidFill>
                <a:latin typeface="Segoe UI" panose="020B0502040204020203" pitchFamily="34" charset="0"/>
              </a:rPr>
              <a:t>в месяц на продвижение без понимания, какой канал приводит брони</a:t>
            </a:r>
            <a:endParaRPr lang="ru-RU" sz="2000">
              <a:solidFill>
                <a:srgbClr val="5B5B66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Скругленный прямоугольник 11"/>
          <p:cNvSpPr/>
          <p:nvPr/>
        </p:nvSpPr>
        <p:spPr>
          <a:xfrm>
            <a:off x="6172200" y="3657600"/>
            <a:ext cx="5410200" cy="203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>
            <a:outerShdw blurRad="152400" dist="38100" dir="5400000" rotWithShape="0">
              <a:srgbClr val="1E1E24">
                <a:alpha val="15000"/>
              </a:srgbClr>
            </a:outerShdw>
          </a:effectLst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TextBox 12"/>
          <p:cNvSpPr txBox="1"/>
          <p:nvPr/>
        </p:nvSpPr>
        <p:spPr>
          <a:xfrm>
            <a:off x="6477000" y="3911600"/>
            <a:ext cx="482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4400" b="1" smtClean="0">
                <a:solidFill>
                  <a:srgbClr val="3D3D9E"/>
                </a:solidFill>
                <a:latin typeface="Segoe UI Semibold" panose="020B0702040204020203" pitchFamily="34" charset="0"/>
              </a:rPr>
              <a:t>94 %</a:t>
            </a:r>
            <a:endParaRPr lang="ru-RU" sz="4400" b="1">
              <a:solidFill>
                <a:srgbClr val="3D3D9E"/>
              </a:solidFill>
              <a:latin typeface="Segoe UI Semibold" panose="020B0702040204020203" pitchFamily="34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477000" y="4749800"/>
            <a:ext cx="482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2000" smtClean="0">
                <a:solidFill>
                  <a:srgbClr val="5B5B66"/>
                </a:solidFill>
                <a:latin typeface="Segoe UI" panose="020B0502040204020203" pitchFamily="34" charset="0"/>
              </a:rPr>
              <a:t>часов Новогоднего зала было занято в декабре 2025</a:t>
            </a:r>
            <a:endParaRPr lang="ru-RU" sz="2000">
              <a:solidFill>
                <a:srgbClr val="5B5B66"/>
              </a:solidFill>
              <a:latin typeface="Segoe UI" panose="020B0502040204020203" pitchFamily="34" charset="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09600" y="64516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200" smtClean="0">
                <a:solidFill>
                  <a:srgbClr val="5B5B66"/>
                </a:solidFill>
                <a:latin typeface="Segoe UI" panose="020B0502040204020203" pitchFamily="34" charset="0"/>
              </a:rPr>
              <a:t>Кадр 35 · ТЗ-14/2026</a:t>
            </a:r>
            <a:endParaRPr lang="ru-RU" sz="1200">
              <a:solidFill>
                <a:srgbClr val="5B5B66"/>
              </a:solidFill>
              <a:latin typeface="Segoe UI" panose="020B0502040204020203" pitchFamily="34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0820400" y="6451600"/>
            <a:ext cx="76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ru-RU" sz="1200" smtClean="0">
                <a:solidFill>
                  <a:srgbClr val="5B5B66"/>
                </a:solidFill>
                <a:latin typeface="Segoe UI" panose="020B0502040204020203" pitchFamily="34" charset="0"/>
              </a:rPr>
              <a:t>2</a:t>
            </a:r>
            <a:endParaRPr lang="ru-RU" sz="1200">
              <a:solidFill>
                <a:srgbClr val="5B5B66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89943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600" y="4318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3200" b="1" smtClean="0">
                <a:solidFill>
                  <a:srgbClr val="1E1E24"/>
                </a:solidFill>
                <a:latin typeface="Segoe UI Semibold" panose="020B0702040204020203" pitchFamily="34" charset="0"/>
              </a:rPr>
              <a:t>Схема решения</a:t>
            </a:r>
            <a:endParaRPr lang="ru-RU" sz="3200" b="1">
              <a:solidFill>
                <a:srgbClr val="1E1E24"/>
              </a:solidFill>
              <a:latin typeface="Segoe UI Semibold" panose="020B0702040204020203" pitchFamily="34" charset="0"/>
            </a:endParaRPr>
          </a:p>
        </p:txBody>
      </p:sp>
      <p:pic>
        <p:nvPicPr>
          <p:cNvPr id="3" name="Рисунок 2" descr="Схема работы: соцсети и QR → сайт → GA4 и Google Таблица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6889" y="1270000"/>
            <a:ext cx="8918222" cy="5016500"/>
          </a:xfrm>
          <a:prstGeom prst="rect">
            <a:avLst/>
          </a:prstGeom>
          <a:ln w="12700">
            <a:solidFill>
              <a:srgbClr val="E4E0D8"/>
            </a:solidFill>
          </a:ln>
          <a:effectLst>
            <a:outerShdw blurRad="177800" dist="50800" dir="5400000" rotWithShape="0">
              <a:srgbClr val="1E1E24">
                <a:alpha val="18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609600" y="64516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200" smtClean="0">
                <a:solidFill>
                  <a:srgbClr val="5B5B66"/>
                </a:solidFill>
                <a:latin typeface="Segoe UI" panose="020B0502040204020203" pitchFamily="34" charset="0"/>
              </a:rPr>
              <a:t>Кадр 35 · ТЗ-14/2026</a:t>
            </a:r>
            <a:endParaRPr lang="ru-RU" sz="1200">
              <a:solidFill>
                <a:srgbClr val="5B5B66"/>
              </a:solidFill>
              <a:latin typeface="Segoe UI" panose="020B0502040204020203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820400" y="6451600"/>
            <a:ext cx="76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ru-RU" sz="1200" smtClean="0">
                <a:solidFill>
                  <a:srgbClr val="5B5B66"/>
                </a:solidFill>
                <a:latin typeface="Segoe UI" panose="020B0502040204020203" pitchFamily="34" charset="0"/>
              </a:rPr>
              <a:t>3</a:t>
            </a:r>
            <a:endParaRPr lang="ru-RU" sz="1200">
              <a:solidFill>
                <a:srgbClr val="5B5B66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593956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600" y="4318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3200" b="1" smtClean="0">
                <a:solidFill>
                  <a:srgbClr val="1E1E24"/>
                </a:solidFill>
                <a:latin typeface="Segoe UI Semibold" panose="020B0702040204020203" pitchFamily="34" charset="0"/>
              </a:rPr>
              <a:t>Сайт</a:t>
            </a:r>
            <a:endParaRPr lang="ru-RU" sz="3200" b="1">
              <a:solidFill>
                <a:srgbClr val="1E1E24"/>
              </a:solidFill>
              <a:latin typeface="Segoe UI Semibold" panose="020B0702040204020203" pitchFamily="34" charset="0"/>
            </a:endParaRPr>
          </a:p>
        </p:txBody>
      </p:sp>
      <p:pic>
        <p:nvPicPr>
          <p:cNvPr id="3" name="Рисунок 2" descr="Главная страница на компьютере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376363"/>
            <a:ext cx="5715000" cy="3571875"/>
          </a:xfrm>
          <a:prstGeom prst="rect">
            <a:avLst/>
          </a:prstGeom>
          <a:ln w="12700">
            <a:solidFill>
              <a:srgbClr val="E4E0D8"/>
            </a:solidFill>
          </a:ln>
          <a:effectLst>
            <a:outerShdw blurRad="177800" dist="50800" dir="5400000" rotWithShape="0">
              <a:srgbClr val="1E1E24">
                <a:alpha val="18000"/>
              </a:srgbClr>
            </a:outerShdw>
          </a:effectLst>
        </p:spPr>
      </p:pic>
      <p:pic>
        <p:nvPicPr>
          <p:cNvPr id="4" name="Рисунок 3" descr="Главная страница на телефоне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7800" y="1671320"/>
            <a:ext cx="1905000" cy="4124960"/>
          </a:xfrm>
          <a:prstGeom prst="rect">
            <a:avLst/>
          </a:prstGeom>
          <a:ln w="12700">
            <a:solidFill>
              <a:srgbClr val="E4E0D8"/>
            </a:solidFill>
          </a:ln>
          <a:effectLst>
            <a:outerShdw blurRad="177800" dist="50800" dir="5400000" rotWithShape="0">
              <a:srgbClr val="1E1E24">
                <a:alpha val="18000"/>
              </a:srgbClr>
            </a:outerShdw>
          </a:effectLst>
        </p:spPr>
      </p:pic>
      <p:sp>
        <p:nvSpPr>
          <p:cNvPr id="5" name="TextBox 4"/>
          <p:cNvSpPr txBox="1"/>
          <p:nvPr/>
        </p:nvSpPr>
        <p:spPr>
          <a:xfrm>
            <a:off x="8763000" y="1524000"/>
            <a:ext cx="292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28600" indent="-228600">
              <a:lnSpc>
                <a:spcPct val="105000"/>
              </a:lnSpc>
              <a:spcAft>
                <a:spcPts val="1000"/>
              </a:spcAft>
              <a:buClr>
                <a:srgbClr val="3D3D9E"/>
              </a:buClr>
              <a:buFont typeface="+mj-lt"/>
              <a:buChar char="•"/>
            </a:pPr>
            <a:r>
              <a:rPr lang="ru-RU" sz="2000" b="1" dirty="0" smtClean="0">
                <a:solidFill>
                  <a:srgbClr val="3D3D9E"/>
                </a:solidFill>
                <a:latin typeface="Segoe UI" panose="020B0502040204020203" pitchFamily="34" charset="0"/>
              </a:rPr>
              <a:t>9 страниц</a:t>
            </a:r>
            <a:r>
              <a:rPr lang="ru-RU" sz="2000" dirty="0" smtClean="0">
                <a:solidFill>
                  <a:srgbClr val="1E1E24"/>
                </a:solidFill>
                <a:latin typeface="Segoe UI" panose="020B0502040204020203" pitchFamily="34" charset="0"/>
              </a:rPr>
              <a:t> и 404</a:t>
            </a:r>
          </a:p>
          <a:p>
            <a:pPr marL="228600" indent="-228600">
              <a:lnSpc>
                <a:spcPct val="105000"/>
              </a:lnSpc>
              <a:spcAft>
                <a:spcPts val="1000"/>
              </a:spcAft>
              <a:buClr>
                <a:srgbClr val="3D3D9E"/>
              </a:buClr>
              <a:buFont typeface="+mj-lt"/>
              <a:buChar char="•"/>
            </a:pPr>
            <a:r>
              <a:rPr lang="ru-RU" sz="2000" dirty="0" err="1" smtClean="0">
                <a:solidFill>
                  <a:srgbClr val="1E1E24"/>
                </a:solidFill>
                <a:latin typeface="Segoe UI" panose="020B0502040204020203" pitchFamily="34" charset="0"/>
              </a:rPr>
              <a:t>Vercel</a:t>
            </a:r>
            <a:r>
              <a:rPr lang="ru-RU" sz="2000" dirty="0" smtClean="0">
                <a:solidFill>
                  <a:srgbClr val="1E1E24"/>
                </a:solidFill>
                <a:latin typeface="Segoe UI" panose="020B0502040204020203" pitchFamily="34" charset="0"/>
              </a:rPr>
              <a:t>, обновление после </a:t>
            </a:r>
            <a:r>
              <a:rPr lang="ru-RU" sz="2000" dirty="0" err="1" smtClean="0">
                <a:solidFill>
                  <a:srgbClr val="1E1E24"/>
                </a:solidFill>
                <a:latin typeface="Segoe UI" panose="020B0502040204020203" pitchFamily="34" charset="0"/>
              </a:rPr>
              <a:t>push</a:t>
            </a:r>
            <a:r>
              <a:rPr lang="ru-RU" sz="2000" dirty="0" smtClean="0">
                <a:solidFill>
                  <a:srgbClr val="1E1E24"/>
                </a:solidFill>
                <a:latin typeface="Segoe UI" panose="020B0502040204020203" pitchFamily="34" charset="0"/>
              </a:rPr>
              <a:t> в </a:t>
            </a:r>
            <a:r>
              <a:rPr lang="ru-RU" sz="2000" dirty="0" err="1" smtClean="0">
                <a:solidFill>
                  <a:srgbClr val="1E1E24"/>
                </a:solidFill>
                <a:latin typeface="Segoe UI" panose="020B0502040204020203" pitchFamily="34" charset="0"/>
              </a:rPr>
              <a:t>main</a:t>
            </a:r>
            <a:endParaRPr lang="ru-RU" sz="2000" dirty="0" smtClean="0">
              <a:solidFill>
                <a:srgbClr val="1E1E24"/>
              </a:solidFill>
              <a:latin typeface="Segoe UI" panose="020B0502040204020203" pitchFamily="34" charset="0"/>
            </a:endParaRPr>
          </a:p>
          <a:p>
            <a:pPr marL="228600" indent="-228600">
              <a:lnSpc>
                <a:spcPct val="105000"/>
              </a:lnSpc>
              <a:spcAft>
                <a:spcPts val="1000"/>
              </a:spcAft>
              <a:buClr>
                <a:srgbClr val="3D3D9E"/>
              </a:buClr>
              <a:buFont typeface="+mj-lt"/>
              <a:buChar char="•"/>
            </a:pPr>
            <a:r>
              <a:rPr lang="ru-RU" sz="2000" dirty="0" err="1" smtClean="0">
                <a:solidFill>
                  <a:srgbClr val="1E1E24"/>
                </a:solidFill>
                <a:latin typeface="Segoe UI" panose="020B0502040204020203" pitchFamily="34" charset="0"/>
              </a:rPr>
              <a:t>Lighthouse</a:t>
            </a:r>
            <a:r>
              <a:rPr lang="ru-RU" sz="2000" dirty="0" smtClean="0">
                <a:solidFill>
                  <a:srgbClr val="1E1E24"/>
                </a:solidFill>
                <a:latin typeface="Segoe UI" panose="020B0502040204020203" pitchFamily="34" charset="0"/>
              </a:rPr>
              <a:t> на телефоне: </a:t>
            </a:r>
            <a:r>
              <a:rPr lang="ru-RU" sz="2000" b="1" dirty="0" smtClean="0">
                <a:solidFill>
                  <a:srgbClr val="3D3D9E"/>
                </a:solidFill>
                <a:latin typeface="Segoe UI" panose="020B0502040204020203" pitchFamily="34" charset="0"/>
              </a:rPr>
              <a:t>83 · 100 · 100</a:t>
            </a:r>
          </a:p>
          <a:p>
            <a:pPr marL="228600" indent="-228600">
              <a:lnSpc>
                <a:spcPct val="105000"/>
              </a:lnSpc>
              <a:spcAft>
                <a:spcPts val="1000"/>
              </a:spcAft>
              <a:buClr>
                <a:srgbClr val="3D3D9E"/>
              </a:buClr>
              <a:buFont typeface="+mj-lt"/>
              <a:buChar char="•"/>
            </a:pPr>
            <a:r>
              <a:rPr lang="ru-RU" sz="2000" dirty="0" smtClean="0">
                <a:solidFill>
                  <a:srgbClr val="1E1E24"/>
                </a:solidFill>
                <a:latin typeface="Segoe UI" panose="020B0502040204020203" pitchFamily="34" charset="0"/>
              </a:rPr>
              <a:t>создан с помощью </a:t>
            </a:r>
            <a:r>
              <a:rPr lang="ru-RU" sz="2000" dirty="0" err="1" smtClean="0">
                <a:solidFill>
                  <a:srgbClr val="1E1E24"/>
                </a:solidFill>
                <a:latin typeface="Segoe UI" panose="020B0502040204020203" pitchFamily="34" charset="0"/>
              </a:rPr>
              <a:t>нейросети</a:t>
            </a:r>
            <a:endParaRPr lang="ru-RU" sz="2000" dirty="0">
              <a:solidFill>
                <a:srgbClr val="1E1E24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09600" y="64516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200" smtClean="0">
                <a:solidFill>
                  <a:srgbClr val="5B5B66"/>
                </a:solidFill>
                <a:latin typeface="Segoe UI" panose="020B0502040204020203" pitchFamily="34" charset="0"/>
              </a:rPr>
              <a:t>Кадр 35 · ТЗ-14/2026</a:t>
            </a:r>
            <a:endParaRPr lang="ru-RU" sz="1200">
              <a:solidFill>
                <a:srgbClr val="5B5B66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820400" y="6451600"/>
            <a:ext cx="76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ru-RU" sz="1200" smtClean="0">
                <a:solidFill>
                  <a:srgbClr val="5B5B66"/>
                </a:solidFill>
                <a:latin typeface="Segoe UI" panose="020B0502040204020203" pitchFamily="34" charset="0"/>
              </a:rPr>
              <a:t>4</a:t>
            </a:r>
            <a:endParaRPr lang="ru-RU" sz="1200">
              <a:solidFill>
                <a:srgbClr val="5B5B66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581617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600" y="4318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3200" b="1" smtClean="0">
                <a:solidFill>
                  <a:srgbClr val="1E1E24"/>
                </a:solidFill>
                <a:latin typeface="Segoe UI Semibold" panose="020B0702040204020203" pitchFamily="34" charset="0"/>
              </a:rPr>
              <a:t>Бронь: свободные часы и цена сразу</a:t>
            </a:r>
            <a:endParaRPr lang="ru-RU" sz="3200" b="1">
              <a:solidFill>
                <a:srgbClr val="1E1E24"/>
              </a:solidFill>
              <a:latin typeface="Segoe UI Semibold" panose="020B0702040204020203" pitchFamily="34" charset="0"/>
            </a:endParaRPr>
          </a:p>
        </p:txBody>
      </p:sp>
      <p:pic>
        <p:nvPicPr>
          <p:cNvPr id="3" name="Рисунок 2" descr="Расчёт брони на странице контактов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9193" y="1270000"/>
            <a:ext cx="5589814" cy="5016500"/>
          </a:xfrm>
          <a:prstGeom prst="rect">
            <a:avLst/>
          </a:prstGeom>
          <a:ln w="12700">
            <a:solidFill>
              <a:srgbClr val="E4E0D8"/>
            </a:solidFill>
          </a:ln>
          <a:effectLst>
            <a:outerShdw blurRad="177800" dist="50800" dir="5400000" rotWithShape="0">
              <a:srgbClr val="1E1E24">
                <a:alpha val="18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6959600" y="1524000"/>
            <a:ext cx="4699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28600" indent="-228600">
              <a:lnSpc>
                <a:spcPct val="105000"/>
              </a:lnSpc>
              <a:spcAft>
                <a:spcPts val="1000"/>
              </a:spcAft>
              <a:buClr>
                <a:srgbClr val="3D3D9E"/>
              </a:buClr>
              <a:buFont typeface="+mj-lt"/>
              <a:buChar char="•"/>
            </a:pPr>
            <a:r>
              <a:rPr lang="ru-RU" sz="2000" smtClean="0">
                <a:solidFill>
                  <a:srgbClr val="1E1E24"/>
                </a:solidFill>
                <a:latin typeface="Segoe UI" panose="020B0502040204020203" pitchFamily="34" charset="0"/>
              </a:rPr>
              <a:t>занятое время выбрать нельзя</a:t>
            </a:r>
          </a:p>
          <a:p>
            <a:pPr marL="228600" indent="-228600">
              <a:lnSpc>
                <a:spcPct val="105000"/>
              </a:lnSpc>
              <a:spcAft>
                <a:spcPts val="1000"/>
              </a:spcAft>
              <a:buClr>
                <a:srgbClr val="3D3D9E"/>
              </a:buClr>
              <a:buFont typeface="+mj-lt"/>
              <a:buChar char="•"/>
            </a:pPr>
            <a:r>
              <a:rPr lang="ru-RU" sz="2000" smtClean="0">
                <a:solidFill>
                  <a:srgbClr val="1E1E24"/>
                </a:solidFill>
                <a:latin typeface="Segoe UI" panose="020B0502040204020203" pitchFamily="34" charset="0"/>
              </a:rPr>
              <a:t>скидка 20 % в будни с 09:00 до 12:00</a:t>
            </a:r>
          </a:p>
          <a:p>
            <a:pPr marL="228600" indent="-228600">
              <a:lnSpc>
                <a:spcPct val="105000"/>
              </a:lnSpc>
              <a:spcAft>
                <a:spcPts val="1000"/>
              </a:spcAft>
              <a:buClr>
                <a:srgbClr val="3D3D9E"/>
              </a:buClr>
              <a:buFont typeface="+mj-lt"/>
              <a:buChar char="•"/>
            </a:pPr>
            <a:r>
              <a:rPr lang="ru-RU" sz="2000" smtClean="0">
                <a:solidFill>
                  <a:srgbClr val="1E1E24"/>
                </a:solidFill>
                <a:latin typeface="Segoe UI" panose="020B0502040204020203" pitchFamily="34" charset="0"/>
              </a:rPr>
              <a:t>Циклорама, будни, 10:00, 2 часа: </a:t>
            </a:r>
            <a:r>
              <a:rPr lang="ru-RU" sz="2000" b="1" smtClean="0">
                <a:solidFill>
                  <a:srgbClr val="3D3D9E"/>
                </a:solidFill>
                <a:latin typeface="Segoe UI" panose="020B0502040204020203" pitchFamily="34" charset="0"/>
              </a:rPr>
              <a:t>2 × 2 200 × 0,8 = 3 520 ₽</a:t>
            </a:r>
          </a:p>
          <a:p>
            <a:pPr marL="228600" indent="-228600">
              <a:lnSpc>
                <a:spcPct val="105000"/>
              </a:lnSpc>
              <a:spcAft>
                <a:spcPts val="1000"/>
              </a:spcAft>
              <a:buClr>
                <a:srgbClr val="3D3D9E"/>
              </a:buClr>
              <a:buFont typeface="+mj-lt"/>
              <a:buChar char="•"/>
            </a:pPr>
            <a:r>
              <a:rPr lang="ru-RU" sz="2000" smtClean="0">
                <a:solidFill>
                  <a:srgbClr val="1E1E24"/>
                </a:solidFill>
                <a:latin typeface="Segoe UI" panose="020B0502040204020203" pitchFamily="34" charset="0"/>
              </a:rPr>
              <a:t>Новогодний зал — только 01.12–10.01</a:t>
            </a:r>
            <a:endParaRPr lang="ru-RU" sz="2000">
              <a:solidFill>
                <a:srgbClr val="1E1E24"/>
              </a:solidFill>
              <a:latin typeface="Segoe UI" panose="020B0502040204020203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09600" y="64516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200" smtClean="0">
                <a:solidFill>
                  <a:srgbClr val="5B5B66"/>
                </a:solidFill>
                <a:latin typeface="Segoe UI" panose="020B0502040204020203" pitchFamily="34" charset="0"/>
              </a:rPr>
              <a:t>Кадр 35 · ТЗ-14/2026</a:t>
            </a:r>
            <a:endParaRPr lang="ru-RU" sz="1200">
              <a:solidFill>
                <a:srgbClr val="5B5B66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820400" y="6451600"/>
            <a:ext cx="76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ru-RU" sz="1200" smtClean="0">
                <a:solidFill>
                  <a:srgbClr val="5B5B66"/>
                </a:solidFill>
                <a:latin typeface="Segoe UI" panose="020B0502040204020203" pitchFamily="34" charset="0"/>
              </a:rPr>
              <a:t>5</a:t>
            </a:r>
            <a:endParaRPr lang="ru-RU" sz="1200">
              <a:solidFill>
                <a:srgbClr val="5B5B66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58895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600" y="4318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3200" b="1" smtClean="0">
                <a:solidFill>
                  <a:srgbClr val="1E1E24"/>
                </a:solidFill>
                <a:latin typeface="Segoe UI Semibold" panose="020B0702040204020203" pitchFamily="34" charset="0"/>
              </a:rPr>
              <a:t>Путь заявки: источник не теряется</a:t>
            </a:r>
            <a:endParaRPr lang="ru-RU" sz="3200" b="1">
              <a:solidFill>
                <a:srgbClr val="1E1E24"/>
              </a:solidFill>
              <a:latin typeface="Segoe UI Semibold" panose="020B0702040204020203" pitchFamily="34" charset="0"/>
            </a:endParaRPr>
          </a:p>
        </p:txBody>
      </p:sp>
      <p:pic>
        <p:nvPicPr>
          <p:cNvPr id="3" name="Рисунок 2" descr="Адрес страницы с UTM-метками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2136378"/>
            <a:ext cx="2921000" cy="1442244"/>
          </a:xfrm>
          <a:prstGeom prst="rect">
            <a:avLst/>
          </a:prstGeom>
          <a:ln w="12700">
            <a:solidFill>
              <a:srgbClr val="E4E0D8"/>
            </a:solidFill>
          </a:ln>
          <a:effectLst>
            <a:outerShdw blurRad="177800" dist="50800" dir="5400000" rotWithShape="0">
              <a:srgbClr val="1E1E24">
                <a:alpha val="18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609600" y="3962400"/>
            <a:ext cx="2921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600" smtClean="0">
                <a:solidFill>
                  <a:srgbClr val="5B5B66"/>
                </a:solidFill>
                <a:latin typeface="Segoe UI" panose="020B0502040204020203" pitchFamily="34" charset="0"/>
              </a:rPr>
              <a:t>ссылка с </a:t>
            </a:r>
            <a:r>
              <a:rPr lang="en-US" sz="1600" smtClean="0">
                <a:solidFill>
                  <a:srgbClr val="5B5B66"/>
                </a:solidFill>
                <a:latin typeface="Segoe UI" panose="020B0502040204020203" pitchFamily="34" charset="0"/>
              </a:rPr>
              <a:t>UTM-</a:t>
            </a:r>
            <a:r>
              <a:rPr lang="ru-RU" sz="1600" smtClean="0">
                <a:solidFill>
                  <a:srgbClr val="5B5B66"/>
                </a:solidFill>
                <a:latin typeface="Segoe UI" panose="020B0502040204020203" pitchFamily="34" charset="0"/>
              </a:rPr>
              <a:t>метками</a:t>
            </a:r>
            <a:endParaRPr lang="ru-RU" sz="1600">
              <a:solidFill>
                <a:srgbClr val="5B5B66"/>
              </a:solidFill>
              <a:latin typeface="Segoe UI" panose="020B0502040204020203" pitchFamily="34" charset="0"/>
            </a:endParaRPr>
          </a:p>
        </p:txBody>
      </p:sp>
      <p:sp>
        <p:nvSpPr>
          <p:cNvPr id="5" name="Стрелка вправо 4"/>
          <p:cNvSpPr/>
          <p:nvPr/>
        </p:nvSpPr>
        <p:spPr>
          <a:xfrm>
            <a:off x="3683000" y="2667000"/>
            <a:ext cx="381000" cy="304800"/>
          </a:xfrm>
          <a:prstGeom prst="rightArrow">
            <a:avLst/>
          </a:prstGeom>
          <a:solidFill>
            <a:srgbClr val="3D3D9E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TextBox 6"/>
          <p:cNvSpPr txBox="1"/>
          <p:nvPr/>
        </p:nvSpPr>
        <p:spPr>
          <a:xfrm>
            <a:off x="4216400" y="3962400"/>
            <a:ext cx="4826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600" smtClean="0">
                <a:solidFill>
                  <a:srgbClr val="5B5B66"/>
                </a:solidFill>
                <a:latin typeface="Segoe UI" panose="020B0502040204020203" pitchFamily="34" charset="0"/>
              </a:rPr>
              <a:t>строка в листе leads с метками</a:t>
            </a:r>
            <a:endParaRPr lang="ru-RU" sz="1600">
              <a:solidFill>
                <a:srgbClr val="5B5B66"/>
              </a:solidFill>
              <a:latin typeface="Segoe UI" panose="020B0502040204020203" pitchFamily="34" charset="0"/>
            </a:endParaRPr>
          </a:p>
        </p:txBody>
      </p:sp>
      <p:sp>
        <p:nvSpPr>
          <p:cNvPr id="8" name="Стрелка вправо 7"/>
          <p:cNvSpPr/>
          <p:nvPr/>
        </p:nvSpPr>
        <p:spPr>
          <a:xfrm>
            <a:off x="9194800" y="2667000"/>
            <a:ext cx="381000" cy="304800"/>
          </a:xfrm>
          <a:prstGeom prst="rightArrow">
            <a:avLst/>
          </a:prstGeom>
          <a:solidFill>
            <a:srgbClr val="3D3D9E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9" name="Рисунок 8" descr="Событие generate_lead в отчёте Realtime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8200" y="1396688"/>
            <a:ext cx="1905000" cy="3963024"/>
          </a:xfrm>
          <a:prstGeom prst="rect">
            <a:avLst/>
          </a:prstGeom>
          <a:ln w="12700">
            <a:solidFill>
              <a:srgbClr val="E4E0D8"/>
            </a:solidFill>
          </a:ln>
          <a:effectLst>
            <a:outerShdw blurRad="177800" dist="50800" dir="5400000" rotWithShape="0">
              <a:srgbClr val="1E1E24">
                <a:alpha val="18000"/>
              </a:srgbClr>
            </a:outerShdw>
          </a:effectLst>
        </p:spPr>
      </p:pic>
      <p:sp>
        <p:nvSpPr>
          <p:cNvPr id="10" name="TextBox 9"/>
          <p:cNvSpPr txBox="1"/>
          <p:nvPr/>
        </p:nvSpPr>
        <p:spPr>
          <a:xfrm>
            <a:off x="9525000" y="5664200"/>
            <a:ext cx="23114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 smtClean="0">
                <a:solidFill>
                  <a:srgbClr val="5B5B66"/>
                </a:solidFill>
                <a:latin typeface="Segoe UI" panose="020B0502040204020203" pitchFamily="34" charset="0"/>
              </a:rPr>
              <a:t>generate_lead </a:t>
            </a:r>
            <a:r>
              <a:rPr lang="ru-RU" sz="1600" smtClean="0">
                <a:solidFill>
                  <a:srgbClr val="5B5B66"/>
                </a:solidFill>
                <a:latin typeface="Segoe UI" panose="020B0502040204020203" pitchFamily="34" charset="0"/>
              </a:rPr>
              <a:t>в </a:t>
            </a:r>
            <a:r>
              <a:rPr lang="en-US" sz="1600" smtClean="0">
                <a:solidFill>
                  <a:srgbClr val="5B5B66"/>
                </a:solidFill>
                <a:latin typeface="Segoe UI" panose="020B0502040204020203" pitchFamily="34" charset="0"/>
              </a:rPr>
              <a:t>Realtime</a:t>
            </a:r>
            <a:endParaRPr lang="ru-RU" sz="1600">
              <a:solidFill>
                <a:srgbClr val="5B5B66"/>
              </a:solidFill>
              <a:latin typeface="Segoe UI" panose="020B0502040204020203" pitchFamily="34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09600" y="4826000"/>
            <a:ext cx="838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2000" smtClean="0">
                <a:solidFill>
                  <a:srgbClr val="1E1E24"/>
                </a:solidFill>
                <a:latin typeface="Segoe UI" panose="020B0502040204020203" pitchFamily="34" charset="0"/>
              </a:rPr>
              <a:t>Одна заявка проходит весь путь: метки сохраняются в sessionStorage и уходят в таблицу вместе с бронью.</a:t>
            </a:r>
            <a:endParaRPr lang="ru-RU" sz="2000">
              <a:solidFill>
                <a:srgbClr val="1E1E24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09600" y="64516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200" smtClean="0">
                <a:solidFill>
                  <a:srgbClr val="5B5B66"/>
                </a:solidFill>
                <a:latin typeface="Segoe UI" panose="020B0502040204020203" pitchFamily="34" charset="0"/>
              </a:rPr>
              <a:t>Кадр 35 · ТЗ-14/2026</a:t>
            </a:r>
            <a:endParaRPr lang="ru-RU" sz="1200">
              <a:solidFill>
                <a:srgbClr val="5B5B66"/>
              </a:solidFill>
              <a:latin typeface="Segoe UI" panose="020B0502040204020203" pitchFamily="34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0820400" y="6451600"/>
            <a:ext cx="76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ru-RU" sz="1200" smtClean="0">
                <a:solidFill>
                  <a:srgbClr val="5B5B66"/>
                </a:solidFill>
                <a:latin typeface="Segoe UI" panose="020B0502040204020203" pitchFamily="34" charset="0"/>
              </a:rPr>
              <a:t>6</a:t>
            </a:r>
            <a:endParaRPr lang="ru-RU" sz="1200">
              <a:solidFill>
                <a:srgbClr val="5B5B66"/>
              </a:solidFill>
              <a:latin typeface="Segoe UI" panose="020B0502040204020203" pitchFamily="34" charset="0"/>
            </a:endParaRPr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16400" y="2136378"/>
            <a:ext cx="4546600" cy="1469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0640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600" y="4318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200" b="1" smtClean="0">
                <a:solidFill>
                  <a:srgbClr val="1E1E24"/>
                </a:solidFill>
                <a:latin typeface="Segoe UI Semibold" panose="020B0702040204020203" pitchFamily="34" charset="0"/>
              </a:rPr>
              <a:t>Instagram → </a:t>
            </a:r>
            <a:r>
              <a:rPr lang="ru-RU" sz="3200" b="1" smtClean="0">
                <a:solidFill>
                  <a:srgbClr val="1E1E24"/>
                </a:solidFill>
                <a:latin typeface="Segoe UI Semibold" panose="020B0702040204020203" pitchFamily="34" charset="0"/>
              </a:rPr>
              <a:t>сайт</a:t>
            </a:r>
            <a:endParaRPr lang="ru-RU" sz="3200" b="1">
              <a:solidFill>
                <a:srgbClr val="1E1E24"/>
              </a:solidFill>
              <a:latin typeface="Segoe UI Semibold" panose="020B0702040204020203" pitchFamily="34" charset="0"/>
            </a:endParaRPr>
          </a:p>
        </p:txBody>
      </p:sp>
      <p:pic>
        <p:nvPicPr>
          <p:cNvPr id="3" name="Рисунок 2" descr="Комментарий ИДЕИ и ответ студии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352" y="1219201"/>
            <a:ext cx="2172995" cy="5079999"/>
          </a:xfrm>
          <a:prstGeom prst="rect">
            <a:avLst/>
          </a:prstGeom>
          <a:ln w="12700">
            <a:solidFill>
              <a:srgbClr val="E4E0D8"/>
            </a:solidFill>
          </a:ln>
          <a:effectLst>
            <a:outerShdw blurRad="177800" dist="50800" dir="5400000" rotWithShape="0">
              <a:srgbClr val="1E1E24">
                <a:alpha val="18000"/>
              </a:srgbClr>
            </a:outerShdw>
          </a:effectLst>
        </p:spPr>
      </p:pic>
      <p:pic>
        <p:nvPicPr>
          <p:cNvPr id="4" name="Рисунок 3" descr="Сообщение в Direct с кнопкой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2752" y="1219201"/>
            <a:ext cx="2172995" cy="5079999"/>
          </a:xfrm>
          <a:prstGeom prst="rect">
            <a:avLst/>
          </a:prstGeom>
          <a:ln w="12700">
            <a:solidFill>
              <a:srgbClr val="E4E0D8"/>
            </a:solidFill>
          </a:ln>
          <a:effectLst>
            <a:outerShdw blurRad="177800" dist="50800" dir="5400000" rotWithShape="0">
              <a:srgbClr val="1E1E24">
                <a:alpha val="18000"/>
              </a:srgbClr>
            </a:outerShdw>
          </a:effectLst>
        </p:spPr>
      </p:pic>
      <p:sp>
        <p:nvSpPr>
          <p:cNvPr id="5" name="TextBox 4"/>
          <p:cNvSpPr txBox="1"/>
          <p:nvPr/>
        </p:nvSpPr>
        <p:spPr>
          <a:xfrm>
            <a:off x="5715000" y="1651000"/>
            <a:ext cx="584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28600" indent="-228600">
              <a:lnSpc>
                <a:spcPct val="105000"/>
              </a:lnSpc>
              <a:spcAft>
                <a:spcPts val="1000"/>
              </a:spcAft>
              <a:buClr>
                <a:srgbClr val="3D3D9E"/>
              </a:buClr>
              <a:buFont typeface="+mj-lt"/>
              <a:buChar char="•"/>
            </a:pPr>
            <a:r>
              <a:rPr lang="en-US" sz="2000" smtClean="0">
                <a:solidFill>
                  <a:srgbClr val="1E1E24"/>
                </a:solidFill>
                <a:latin typeface="Segoe UI" panose="020B0502040204020203" pitchFamily="34" charset="0"/>
              </a:rPr>
              <a:t>ManyChat </a:t>
            </a:r>
            <a:r>
              <a:rPr lang="ru-RU" sz="2000" smtClean="0">
                <a:solidFill>
                  <a:srgbClr val="1E1E24"/>
                </a:solidFill>
                <a:latin typeface="Segoe UI" panose="020B0502040204020203" pitchFamily="34" charset="0"/>
              </a:rPr>
              <a:t>отвечает в комментариях и в </a:t>
            </a:r>
            <a:r>
              <a:rPr lang="en-US" sz="2000" smtClean="0">
                <a:solidFill>
                  <a:srgbClr val="1E1E24"/>
                </a:solidFill>
                <a:latin typeface="Segoe UI" panose="020B0502040204020203" pitchFamily="34" charset="0"/>
              </a:rPr>
              <a:t>Direct</a:t>
            </a:r>
          </a:p>
          <a:p>
            <a:pPr marL="228600" indent="-228600">
              <a:lnSpc>
                <a:spcPct val="105000"/>
              </a:lnSpc>
              <a:spcAft>
                <a:spcPts val="1000"/>
              </a:spcAft>
              <a:buClr>
                <a:srgbClr val="3D3D9E"/>
              </a:buClr>
              <a:buFont typeface="+mj-lt"/>
              <a:buChar char="•"/>
            </a:pPr>
            <a:r>
              <a:rPr lang="en-US" sz="2000" b="1" smtClean="0">
                <a:solidFill>
                  <a:srgbClr val="3D3D9E"/>
                </a:solidFill>
                <a:latin typeface="Segoe UI" panose="020B0502040204020203" pitchFamily="34" charset="0"/>
              </a:rPr>
              <a:t>«</a:t>
            </a:r>
            <a:r>
              <a:rPr lang="ru-RU" sz="2000" b="1" smtClean="0">
                <a:solidFill>
                  <a:srgbClr val="3D3D9E"/>
                </a:solidFill>
                <a:latin typeface="Segoe UI" panose="020B0502040204020203" pitchFamily="34" charset="0"/>
              </a:rPr>
              <a:t>ИДЕИ»</a:t>
            </a:r>
            <a:r>
              <a:rPr lang="ru-RU" sz="2000" smtClean="0">
                <a:solidFill>
                  <a:srgbClr val="1E1E24"/>
                </a:solidFill>
                <a:latin typeface="Segoe UI" panose="020B0502040204020203" pitchFamily="34" charset="0"/>
              </a:rPr>
              <a:t> → </a:t>
            </a:r>
            <a:r>
              <a:rPr lang="en-US" sz="2000" smtClean="0">
                <a:solidFill>
                  <a:srgbClr val="1E1E24"/>
                </a:solidFill>
                <a:latin typeface="Segoe UI" panose="020B0502040204020203" pitchFamily="34" charset="0"/>
              </a:rPr>
              <a:t>ideas.html</a:t>
            </a:r>
          </a:p>
          <a:p>
            <a:pPr marL="228600" indent="-228600">
              <a:lnSpc>
                <a:spcPct val="105000"/>
              </a:lnSpc>
              <a:spcAft>
                <a:spcPts val="1000"/>
              </a:spcAft>
              <a:buClr>
                <a:srgbClr val="3D3D9E"/>
              </a:buClr>
              <a:buFont typeface="+mj-lt"/>
              <a:buChar char="•"/>
            </a:pPr>
            <a:r>
              <a:rPr lang="en-US" sz="2000" b="1" smtClean="0">
                <a:solidFill>
                  <a:srgbClr val="3D3D9E"/>
                </a:solidFill>
                <a:latin typeface="Segoe UI" panose="020B0502040204020203" pitchFamily="34" charset="0"/>
              </a:rPr>
              <a:t>«</a:t>
            </a:r>
            <a:r>
              <a:rPr lang="ru-RU" sz="2000" b="1" smtClean="0">
                <a:solidFill>
                  <a:srgbClr val="3D3D9E"/>
                </a:solidFill>
                <a:latin typeface="Segoe UI" panose="020B0502040204020203" pitchFamily="34" charset="0"/>
              </a:rPr>
              <a:t>СЕМЬЯ»</a:t>
            </a:r>
            <a:r>
              <a:rPr lang="ru-RU" sz="2000" smtClean="0">
                <a:solidFill>
                  <a:srgbClr val="1E1E24"/>
                </a:solidFill>
                <a:latin typeface="Segoe UI" panose="020B0502040204020203" pitchFamily="34" charset="0"/>
              </a:rPr>
              <a:t> → </a:t>
            </a:r>
            <a:r>
              <a:rPr lang="en-US" sz="2000" smtClean="0">
                <a:solidFill>
                  <a:srgbClr val="1E1E24"/>
                </a:solidFill>
                <a:latin typeface="Segoe UI" panose="020B0502040204020203" pitchFamily="34" charset="0"/>
              </a:rPr>
              <a:t>photographers.html#family</a:t>
            </a:r>
          </a:p>
          <a:p>
            <a:pPr marL="228600" indent="-228600">
              <a:lnSpc>
                <a:spcPct val="105000"/>
              </a:lnSpc>
              <a:spcAft>
                <a:spcPts val="1000"/>
              </a:spcAft>
              <a:buClr>
                <a:srgbClr val="3D3D9E"/>
              </a:buClr>
              <a:buFont typeface="+mj-lt"/>
              <a:buChar char="•"/>
            </a:pPr>
            <a:r>
              <a:rPr lang="ru-RU" sz="2000" smtClean="0">
                <a:solidFill>
                  <a:srgbClr val="1E1E24"/>
                </a:solidFill>
                <a:latin typeface="Segoe UI" panose="020B0502040204020203" pitchFamily="34" charset="0"/>
              </a:rPr>
              <a:t>ссылки кнопок — из реестра (</a:t>
            </a:r>
            <a:r>
              <a:rPr lang="en-US" sz="2000" smtClean="0">
                <a:solidFill>
                  <a:srgbClr val="1E1E24"/>
                </a:solidFill>
                <a:latin typeface="Segoe UI" panose="020B0502040204020203" pitchFamily="34" charset="0"/>
              </a:rPr>
              <a:t>U-02, U-03)</a:t>
            </a:r>
            <a:endParaRPr lang="ru-RU" sz="2000">
              <a:solidFill>
                <a:srgbClr val="1E1E24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09600" y="64516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200" smtClean="0">
                <a:solidFill>
                  <a:srgbClr val="5B5B66"/>
                </a:solidFill>
                <a:latin typeface="Segoe UI" panose="020B0502040204020203" pitchFamily="34" charset="0"/>
              </a:rPr>
              <a:t>Кадр 35 · ТЗ-14/2026</a:t>
            </a:r>
            <a:endParaRPr lang="ru-RU" sz="1200">
              <a:solidFill>
                <a:srgbClr val="5B5B66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820400" y="6451600"/>
            <a:ext cx="76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ru-RU" sz="1200" smtClean="0">
                <a:solidFill>
                  <a:srgbClr val="5B5B66"/>
                </a:solidFill>
                <a:latin typeface="Segoe UI" panose="020B0502040204020203" pitchFamily="34" charset="0"/>
              </a:rPr>
              <a:t>7</a:t>
            </a:r>
            <a:endParaRPr lang="ru-RU" sz="1200">
              <a:solidFill>
                <a:srgbClr val="5B5B66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61718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600" y="4318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200" b="1" smtClean="0">
                <a:solidFill>
                  <a:srgbClr val="1E1E24"/>
                </a:solidFill>
                <a:latin typeface="Segoe UI Semibold" panose="020B0702040204020203" pitchFamily="34" charset="0"/>
              </a:rPr>
              <a:t>GA4: </a:t>
            </a:r>
            <a:r>
              <a:rPr lang="ru-RU" sz="3200" b="1" smtClean="0">
                <a:solidFill>
                  <a:srgbClr val="1E1E24"/>
                </a:solidFill>
                <a:latin typeface="Segoe UI Semibold" panose="020B0702040204020203" pitchFamily="34" charset="0"/>
              </a:rPr>
              <a:t>события и параметры</a:t>
            </a:r>
            <a:endParaRPr lang="ru-RU" sz="3200" b="1">
              <a:solidFill>
                <a:srgbClr val="1E1E24"/>
              </a:solidFill>
              <a:latin typeface="Segoe UI Semibold" panose="020B0702040204020203" pitchFamily="34" charset="0"/>
            </a:endParaRPr>
          </a:p>
        </p:txBody>
      </p:sp>
      <p:pic>
        <p:nvPicPr>
          <p:cNvPr id="3" name="Рисунок 2" descr="Событие generate_lead в DebugView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615381"/>
            <a:ext cx="2921000" cy="4287637"/>
          </a:xfrm>
          <a:prstGeom prst="rect">
            <a:avLst/>
          </a:prstGeom>
          <a:ln w="12700">
            <a:solidFill>
              <a:srgbClr val="E4E0D8"/>
            </a:solidFill>
          </a:ln>
          <a:effectLst>
            <a:outerShdw blurRad="177800" dist="50800" dir="5400000" rotWithShape="0">
              <a:srgbClr val="1E1E24">
                <a:alpha val="18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3810000" y="1320800"/>
            <a:ext cx="7747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28600" indent="-228600">
              <a:lnSpc>
                <a:spcPct val="105000"/>
              </a:lnSpc>
              <a:spcAft>
                <a:spcPts val="1000"/>
              </a:spcAft>
              <a:buClr>
                <a:srgbClr val="3D3D9E"/>
              </a:buClr>
              <a:buFont typeface="+mj-lt"/>
              <a:buChar char="•"/>
            </a:pPr>
            <a:r>
              <a:rPr lang="ru-RU" sz="2000" b="1" smtClean="0">
                <a:solidFill>
                  <a:srgbClr val="3D3D9E"/>
                </a:solidFill>
                <a:latin typeface="Segoe UI" panose="020B0502040204020203" pitchFamily="34" charset="0"/>
              </a:rPr>
              <a:t>20 событий</a:t>
            </a:r>
            <a:r>
              <a:rPr lang="ru-RU" sz="2000" smtClean="0">
                <a:solidFill>
                  <a:srgbClr val="1E1E24"/>
                </a:solidFill>
                <a:latin typeface="Segoe UI" panose="020B0502040204020203" pitchFamily="34" charset="0"/>
              </a:rPr>
              <a:t>, своих — 14, все в </a:t>
            </a:r>
            <a:r>
              <a:rPr lang="en-US" sz="2000" smtClean="0">
                <a:solidFill>
                  <a:srgbClr val="1E1E24"/>
                </a:solidFill>
                <a:latin typeface="Segoe UI" panose="020B0502040204020203" pitchFamily="34" charset="0"/>
              </a:rPr>
              <a:t>js/analytics.js</a:t>
            </a:r>
          </a:p>
          <a:p>
            <a:pPr marL="228600" indent="-228600">
              <a:lnSpc>
                <a:spcPct val="105000"/>
              </a:lnSpc>
              <a:spcAft>
                <a:spcPts val="1000"/>
              </a:spcAft>
              <a:buClr>
                <a:srgbClr val="3D3D9E"/>
              </a:buClr>
              <a:buFont typeface="+mj-lt"/>
              <a:buChar char="•"/>
            </a:pPr>
            <a:r>
              <a:rPr lang="en-US" sz="2000" b="1" smtClean="0">
                <a:solidFill>
                  <a:srgbClr val="3D3D9E"/>
                </a:solidFill>
                <a:latin typeface="Segoe UI" panose="020B0502040204020203" pitchFamily="34" charset="0"/>
              </a:rPr>
              <a:t>7</a:t>
            </a:r>
            <a:r>
              <a:rPr lang="en-US" sz="2000" smtClean="0">
                <a:solidFill>
                  <a:srgbClr val="1E1E24"/>
                </a:solidFill>
                <a:latin typeface="Segoe UI" panose="020B0502040204020203" pitchFamily="34" charset="0"/>
              </a:rPr>
              <a:t> </a:t>
            </a:r>
            <a:r>
              <a:rPr lang="ru-RU" sz="2000" smtClean="0">
                <a:solidFill>
                  <a:srgbClr val="1E1E24"/>
                </a:solidFill>
                <a:latin typeface="Segoe UI" panose="020B0502040204020203" pitchFamily="34" charset="0"/>
              </a:rPr>
              <a:t>пользовательских параметров</a:t>
            </a:r>
          </a:p>
          <a:p>
            <a:pPr marL="228600" indent="-228600">
              <a:lnSpc>
                <a:spcPct val="105000"/>
              </a:lnSpc>
              <a:spcAft>
                <a:spcPts val="1000"/>
              </a:spcAft>
              <a:buClr>
                <a:srgbClr val="3D3D9E"/>
              </a:buClr>
              <a:buFont typeface="+mj-lt"/>
              <a:buChar char="•"/>
            </a:pPr>
            <a:r>
              <a:rPr lang="ru-RU" sz="2000" smtClean="0">
                <a:solidFill>
                  <a:srgbClr val="1E1E24"/>
                </a:solidFill>
                <a:latin typeface="Segoe UI" panose="020B0502040204020203" pitchFamily="34" charset="0"/>
              </a:rPr>
              <a:t>ключевые: </a:t>
            </a:r>
            <a:r>
              <a:rPr lang="en-US" sz="2000" smtClean="0">
                <a:solidFill>
                  <a:srgbClr val="1E1E24"/>
                </a:solidFill>
                <a:latin typeface="Segoe UI" panose="020B0502040204020203" pitchFamily="34" charset="0"/>
              </a:rPr>
              <a:t>generate_lead, contact_click, messenger_click</a:t>
            </a:r>
            <a:endParaRPr lang="ru-RU" sz="2000">
              <a:solidFill>
                <a:srgbClr val="1E1E24"/>
              </a:solidFill>
              <a:latin typeface="Segoe UI" panose="020B0502040204020203" pitchFamily="34" charset="0"/>
            </a:endParaRPr>
          </a:p>
        </p:txBody>
      </p:sp>
      <p:pic>
        <p:nvPicPr>
          <p:cNvPr id="5" name="Рисунок 4" descr="Пользовательские параметры GA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6023" y="3581400"/>
            <a:ext cx="4934953" cy="2717800"/>
          </a:xfrm>
          <a:prstGeom prst="rect">
            <a:avLst/>
          </a:prstGeom>
          <a:ln w="12700">
            <a:solidFill>
              <a:srgbClr val="E4E0D8"/>
            </a:solidFill>
          </a:ln>
          <a:effectLst>
            <a:outerShdw blurRad="177800" dist="50800" dir="5400000" rotWithShape="0">
              <a:srgbClr val="1E1E24">
                <a:alpha val="18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609600" y="64516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200" smtClean="0">
                <a:solidFill>
                  <a:srgbClr val="5B5B66"/>
                </a:solidFill>
                <a:latin typeface="Segoe UI" panose="020B0502040204020203" pitchFamily="34" charset="0"/>
              </a:rPr>
              <a:t>Кадр 35 · ТЗ-14/2026</a:t>
            </a:r>
            <a:endParaRPr lang="ru-RU" sz="1200">
              <a:solidFill>
                <a:srgbClr val="5B5B66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820400" y="6451600"/>
            <a:ext cx="76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ru-RU" sz="1200" smtClean="0">
                <a:solidFill>
                  <a:srgbClr val="5B5B66"/>
                </a:solidFill>
                <a:latin typeface="Segoe UI" panose="020B0502040204020203" pitchFamily="34" charset="0"/>
              </a:rPr>
              <a:t>8</a:t>
            </a:r>
            <a:endParaRPr lang="ru-RU" sz="1200">
              <a:solidFill>
                <a:srgbClr val="5B5B66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507002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600" y="4318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200" b="1" smtClean="0">
                <a:solidFill>
                  <a:srgbClr val="1E1E24"/>
                </a:solidFill>
                <a:latin typeface="Segoe UI Semibold" panose="020B0702040204020203" pitchFamily="34" charset="0"/>
              </a:rPr>
              <a:t>UTM-</a:t>
            </a:r>
            <a:r>
              <a:rPr lang="ru-RU" sz="3200" b="1" smtClean="0">
                <a:solidFill>
                  <a:srgbClr val="1E1E24"/>
                </a:solidFill>
                <a:latin typeface="Segoe UI Semibold" panose="020B0702040204020203" pitchFamily="34" charset="0"/>
              </a:rPr>
              <a:t>ссылки и публикации</a:t>
            </a:r>
            <a:endParaRPr lang="ru-RU" sz="3200" b="1">
              <a:solidFill>
                <a:srgbClr val="1E1E24"/>
              </a:solidFill>
              <a:latin typeface="Segoe UI Semibold" panose="020B0702040204020203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09600" y="4191000"/>
            <a:ext cx="812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28600" indent="-228600">
              <a:lnSpc>
                <a:spcPct val="105000"/>
              </a:lnSpc>
              <a:spcAft>
                <a:spcPts val="1000"/>
              </a:spcAft>
              <a:buClr>
                <a:srgbClr val="3D3D9E"/>
              </a:buClr>
              <a:buFont typeface="+mj-lt"/>
              <a:buChar char="•"/>
            </a:pPr>
            <a:r>
              <a:rPr lang="ru-RU" sz="2000" b="1" smtClean="0">
                <a:solidFill>
                  <a:srgbClr val="3D3D9E"/>
                </a:solidFill>
                <a:latin typeface="Segoe UI" panose="020B0502040204020203" pitchFamily="34" charset="0"/>
              </a:rPr>
              <a:t>12 ссылок</a:t>
            </a:r>
            <a:r>
              <a:rPr lang="ru-RU" sz="2000" smtClean="0">
                <a:solidFill>
                  <a:srgbClr val="1E1E24"/>
                </a:solidFill>
                <a:latin typeface="Segoe UI" panose="020B0502040204020203" pitchFamily="34" charset="0"/>
              </a:rPr>
              <a:t> в реестре, полная ссылка собирается формулой</a:t>
            </a:r>
          </a:p>
          <a:p>
            <a:pPr marL="228600" indent="-228600">
              <a:lnSpc>
                <a:spcPct val="105000"/>
              </a:lnSpc>
              <a:spcAft>
                <a:spcPts val="1000"/>
              </a:spcAft>
              <a:buClr>
                <a:srgbClr val="3D3D9E"/>
              </a:buClr>
              <a:buFont typeface="+mj-lt"/>
              <a:buChar char="•"/>
            </a:pPr>
            <a:r>
              <a:rPr lang="ru-RU" sz="2000" smtClean="0">
                <a:solidFill>
                  <a:srgbClr val="1E1E24"/>
                </a:solidFill>
                <a:latin typeface="Segoe UI" panose="020B0502040204020203" pitchFamily="34" charset="0"/>
              </a:rPr>
              <a:t>опубликовано </a:t>
            </a:r>
            <a:r>
              <a:rPr lang="ru-RU" sz="2000" b="1" smtClean="0">
                <a:solidFill>
                  <a:srgbClr val="3D3D9E"/>
                </a:solidFill>
                <a:latin typeface="Segoe UI" panose="020B0502040204020203" pitchFamily="34" charset="0"/>
              </a:rPr>
              <a:t>8</a:t>
            </a:r>
            <a:r>
              <a:rPr lang="ru-RU" sz="2000" smtClean="0">
                <a:solidFill>
                  <a:srgbClr val="1E1E24"/>
                </a:solidFill>
                <a:latin typeface="Segoe UI" panose="020B0502040204020203" pitchFamily="34" charset="0"/>
              </a:rPr>
              <a:t>: Instagram, ВКонтакте, Telegram</a:t>
            </a:r>
          </a:p>
          <a:p>
            <a:pPr marL="228600" indent="-228600">
              <a:lnSpc>
                <a:spcPct val="105000"/>
              </a:lnSpc>
              <a:spcAft>
                <a:spcPts val="1000"/>
              </a:spcAft>
              <a:buClr>
                <a:srgbClr val="3D3D9E"/>
              </a:buClr>
              <a:buFont typeface="+mj-lt"/>
              <a:buChar char="•"/>
            </a:pPr>
            <a:r>
              <a:rPr lang="ru-RU" sz="2000" smtClean="0">
                <a:solidFill>
                  <a:srgbClr val="1E1E24"/>
                </a:solidFill>
                <a:latin typeface="Segoe UI" panose="020B0502040204020203" pitchFamily="34" charset="0"/>
              </a:rPr>
              <a:t>QR-код U-12 на афише</a:t>
            </a:r>
            <a:endParaRPr lang="ru-RU" sz="2000">
              <a:solidFill>
                <a:srgbClr val="1E1E24"/>
              </a:solidFill>
              <a:latin typeface="Segoe UI" panose="020B0502040204020203" pitchFamily="34" charset="0"/>
            </a:endParaRPr>
          </a:p>
        </p:txBody>
      </p:sp>
      <p:pic>
        <p:nvPicPr>
          <p:cNvPr id="5" name="Рисунок 4" descr="Пост ВКонтакте со ссылкой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10688" y="1219200"/>
            <a:ext cx="2079625" cy="5080000"/>
          </a:xfrm>
          <a:prstGeom prst="rect">
            <a:avLst/>
          </a:prstGeom>
          <a:ln w="12700">
            <a:solidFill>
              <a:srgbClr val="E4E0D8"/>
            </a:solidFill>
          </a:ln>
          <a:effectLst>
            <a:outerShdw blurRad="177800" dist="50800" dir="5400000" rotWithShape="0">
              <a:srgbClr val="1E1E24">
                <a:alpha val="18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609600" y="64516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200" smtClean="0">
                <a:solidFill>
                  <a:srgbClr val="5B5B66"/>
                </a:solidFill>
                <a:latin typeface="Segoe UI" panose="020B0502040204020203" pitchFamily="34" charset="0"/>
              </a:rPr>
              <a:t>Кадр 35 · ТЗ-14/2026</a:t>
            </a:r>
            <a:endParaRPr lang="ru-RU" sz="1200">
              <a:solidFill>
                <a:srgbClr val="5B5B66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820400" y="6451600"/>
            <a:ext cx="76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ru-RU" sz="1200" smtClean="0">
                <a:solidFill>
                  <a:srgbClr val="5B5B66"/>
                </a:solidFill>
                <a:latin typeface="Segoe UI" panose="020B0502040204020203" pitchFamily="34" charset="0"/>
              </a:rPr>
              <a:t>9</a:t>
            </a:r>
            <a:endParaRPr lang="ru-RU" sz="1200">
              <a:solidFill>
                <a:srgbClr val="5B5B66"/>
              </a:solidFill>
              <a:latin typeface="Segoe UI" panose="020B0502040204020203" pitchFamily="34" charset="0"/>
            </a:endParaRP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1534144"/>
            <a:ext cx="7057795" cy="2225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87600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600" y="4318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3200" b="1" smtClean="0">
                <a:solidFill>
                  <a:srgbClr val="1E1E24"/>
                </a:solidFill>
                <a:latin typeface="Segoe UI Semibold" panose="020B0702040204020203" pitchFamily="34" charset="0"/>
              </a:rPr>
              <a:t>Воронка (18–22.10.2026)</a:t>
            </a:r>
            <a:endParaRPr lang="ru-RU" sz="3200" b="1">
              <a:solidFill>
                <a:srgbClr val="1E1E24"/>
              </a:solidFill>
              <a:latin typeface="Segoe UI Semibold" panose="020B0702040204020203" pitchFamily="34" charset="0"/>
            </a:endParaRPr>
          </a:p>
        </p:txBody>
      </p:sp>
      <p:pic>
        <p:nvPicPr>
          <p:cNvPr id="3" name="Рисунок 2" descr="Воронка с разбивкой по устройствам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454150"/>
            <a:ext cx="5080000" cy="4610100"/>
          </a:xfrm>
          <a:prstGeom prst="rect">
            <a:avLst/>
          </a:prstGeom>
          <a:ln w="12700">
            <a:solidFill>
              <a:srgbClr val="E4E0D8"/>
            </a:solidFill>
          </a:ln>
          <a:effectLst>
            <a:outerShdw blurRad="177800" dist="50800" dir="5400000" rotWithShape="0">
              <a:srgbClr val="1E1E24">
                <a:alpha val="18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6045200" y="1320800"/>
            <a:ext cx="5588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28600" indent="-228600">
              <a:lnSpc>
                <a:spcPct val="105000"/>
              </a:lnSpc>
              <a:spcAft>
                <a:spcPts val="1000"/>
              </a:spcAft>
              <a:buClr>
                <a:srgbClr val="3D3D9E"/>
              </a:buClr>
              <a:buFont typeface="+mj-lt"/>
              <a:buChar char="•"/>
            </a:pPr>
            <a:r>
              <a:rPr lang="en-US" sz="2000" smtClean="0">
                <a:solidFill>
                  <a:srgbClr val="1E1E24"/>
                </a:solidFill>
                <a:latin typeface="Segoe UI" panose="020B0502040204020203" pitchFamily="34" charset="0"/>
              </a:rPr>
              <a:t>page_view → hall_view → cta_click → form_start → generate_lead</a:t>
            </a:r>
          </a:p>
          <a:p>
            <a:pPr marL="228600" indent="-228600">
              <a:lnSpc>
                <a:spcPct val="105000"/>
              </a:lnSpc>
              <a:spcAft>
                <a:spcPts val="1000"/>
              </a:spcAft>
              <a:buClr>
                <a:srgbClr val="3D3D9E"/>
              </a:buClr>
              <a:buFont typeface="+mj-lt"/>
              <a:buChar char="•"/>
            </a:pPr>
            <a:r>
              <a:rPr lang="ru-RU" sz="2000" smtClean="0">
                <a:solidFill>
                  <a:srgbClr val="1E1E24"/>
                </a:solidFill>
                <a:latin typeface="Segoe UI" panose="020B0502040204020203" pitchFamily="34" charset="0"/>
              </a:rPr>
              <a:t>наибольшая потеря на первом шаге: </a:t>
            </a:r>
            <a:r>
              <a:rPr lang="ru-RU" sz="2000" b="1" smtClean="0">
                <a:solidFill>
                  <a:srgbClr val="3D3D9E"/>
                </a:solidFill>
                <a:latin typeface="Segoe UI" panose="020B0502040204020203" pitchFamily="34" charset="0"/>
              </a:rPr>
              <a:t>90 %</a:t>
            </a:r>
          </a:p>
          <a:p>
            <a:pPr marL="228600" indent="-228600">
              <a:lnSpc>
                <a:spcPct val="105000"/>
              </a:lnSpc>
              <a:spcAft>
                <a:spcPts val="1000"/>
              </a:spcAft>
              <a:buClr>
                <a:srgbClr val="3D3D9E"/>
              </a:buClr>
              <a:buFont typeface="+mj-lt"/>
              <a:buChar char="•"/>
            </a:pPr>
            <a:r>
              <a:rPr lang="ru-RU" sz="2000" smtClean="0">
                <a:solidFill>
                  <a:srgbClr val="1E1E24"/>
                </a:solidFill>
                <a:latin typeface="Segoe UI" panose="020B0502040204020203" pitchFamily="34" charset="0"/>
              </a:rPr>
              <a:t>до заявки дошли: телефон 0 %, компьютер 14 %</a:t>
            </a:r>
          </a:p>
          <a:p>
            <a:pPr marL="228600" indent="-228600">
              <a:lnSpc>
                <a:spcPct val="105000"/>
              </a:lnSpc>
              <a:spcAft>
                <a:spcPts val="1000"/>
              </a:spcAft>
              <a:buClr>
                <a:srgbClr val="3D3D9E"/>
              </a:buClr>
              <a:buFont typeface="+mj-lt"/>
              <a:buChar char="•"/>
            </a:pPr>
            <a:r>
              <a:rPr lang="en-US" sz="2000" smtClean="0">
                <a:solidFill>
                  <a:srgbClr val="1E1E24"/>
                </a:solidFill>
                <a:latin typeface="Segoe UI" panose="020B0502040204020203" pitchFamily="34" charset="0"/>
              </a:rPr>
              <a:t>Instagram </a:t>
            </a:r>
            <a:r>
              <a:rPr lang="ru-RU" sz="2000" smtClean="0">
                <a:solidFill>
                  <a:srgbClr val="1E1E24"/>
                </a:solidFill>
                <a:latin typeface="Segoe UI" panose="020B0502040204020203" pitchFamily="34" charset="0"/>
              </a:rPr>
              <a:t>вовлечённее прямых заходов: </a:t>
            </a:r>
            <a:r>
              <a:rPr lang="ru-RU" sz="2000" b="1" smtClean="0">
                <a:solidFill>
                  <a:srgbClr val="3D3D9E"/>
                </a:solidFill>
                <a:latin typeface="Segoe UI" panose="020B0502040204020203" pitchFamily="34" charset="0"/>
              </a:rPr>
              <a:t>67 %</a:t>
            </a:r>
            <a:r>
              <a:rPr lang="ru-RU" sz="2000" smtClean="0">
                <a:solidFill>
                  <a:srgbClr val="1E1E24"/>
                </a:solidFill>
                <a:latin typeface="Segoe UI" panose="020B0502040204020203" pitchFamily="34" charset="0"/>
              </a:rPr>
              <a:t> против 45 %</a:t>
            </a:r>
            <a:endParaRPr lang="ru-RU" sz="2000">
              <a:solidFill>
                <a:srgbClr val="1E1E24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273800" y="5384800"/>
            <a:ext cx="5130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endParaRPr lang="ru-RU" b="1" dirty="0">
              <a:solidFill>
                <a:srgbClr val="2E2E7A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09600" y="64516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200" smtClean="0">
                <a:solidFill>
                  <a:srgbClr val="5B5B66"/>
                </a:solidFill>
                <a:latin typeface="Segoe UI" panose="020B0502040204020203" pitchFamily="34" charset="0"/>
              </a:rPr>
              <a:t>Кадр 35 · ТЗ-14/2026</a:t>
            </a:r>
            <a:endParaRPr lang="ru-RU" sz="1200">
              <a:solidFill>
                <a:srgbClr val="5B5B66"/>
              </a:solidFill>
              <a:latin typeface="Segoe UI" panose="020B0502040204020203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0820400" y="6451600"/>
            <a:ext cx="76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ru-RU" sz="1200" smtClean="0">
                <a:solidFill>
                  <a:srgbClr val="5B5B66"/>
                </a:solidFill>
                <a:latin typeface="Segoe UI" panose="020B0502040204020203" pitchFamily="34" charset="0"/>
              </a:rPr>
              <a:t>10</a:t>
            </a:r>
            <a:endParaRPr lang="ru-RU" sz="1200">
              <a:solidFill>
                <a:srgbClr val="5B5B66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407433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600" y="4318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3200" b="1" smtClean="0">
                <a:solidFill>
                  <a:srgbClr val="1E1E24"/>
                </a:solidFill>
                <a:latin typeface="Segoe UI Semibold" panose="020B0702040204020203" pitchFamily="34" charset="0"/>
              </a:rPr>
              <a:t>Что получил бизнес</a:t>
            </a:r>
            <a:endParaRPr lang="ru-RU" sz="3200" b="1">
              <a:solidFill>
                <a:srgbClr val="1E1E24"/>
              </a:solidFill>
              <a:latin typeface="Segoe UI Semibold" panose="020B0702040204020203" pitchFamily="34" charset="0"/>
            </a:endParaRP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8743290"/>
              </p:ext>
            </p:extLst>
          </p:nvPr>
        </p:nvGraphicFramePr>
        <p:xfrm>
          <a:off x="609600" y="1270000"/>
          <a:ext cx="10972800" cy="3860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>
                  <a:extLst>
                    <a:ext uri="{9D8B030D-6E8A-4147-A177-3AD203B41FA5}">
                      <a16:colId xmlns:a16="http://schemas.microsoft.com/office/drawing/2014/main" val="1015537988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124773633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r>
                        <a:rPr lang="ru-RU" sz="2000" b="1" smtClean="0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Было</a:t>
                      </a:r>
                      <a:endParaRPr lang="ru-RU" sz="2000" b="1">
                        <a:solidFill>
                          <a:srgbClr val="FFFFFF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152400" marT="101600" marB="101600">
                    <a:solidFill>
                      <a:srgbClr val="3D3D9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2000" b="1" smtClean="0">
                          <a:solidFill>
                            <a:srgbClr val="FFFFFF"/>
                          </a:solidFill>
                          <a:latin typeface="Segoe UI" panose="020B0502040204020203" pitchFamily="34" charset="0"/>
                        </a:rPr>
                        <a:t>Стало</a:t>
                      </a:r>
                      <a:endParaRPr lang="ru-RU" sz="2000" b="1">
                        <a:solidFill>
                          <a:srgbClr val="FFFFFF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152400" marT="101600" marB="101600">
                    <a:solidFill>
                      <a:srgbClr val="3D3D9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7647358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r>
                        <a:rPr lang="ru-RU" sz="2000" b="0" smtClean="0">
                          <a:solidFill>
                            <a:srgbClr val="1E1E24"/>
                          </a:solidFill>
                          <a:latin typeface="Segoe UI" panose="020B0502040204020203" pitchFamily="34" charset="0"/>
                        </a:rPr>
                        <a:t>свободные часы сверяют вручную</a:t>
                      </a:r>
                      <a:endParaRPr lang="ru-RU" sz="2000" b="0">
                        <a:solidFill>
                          <a:srgbClr val="1E1E24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152400" marT="101600" marB="101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2000" b="0" smtClean="0">
                          <a:solidFill>
                            <a:srgbClr val="1E1E24"/>
                          </a:solidFill>
                          <a:latin typeface="Segoe UI" panose="020B0502040204020203" pitchFamily="34" charset="0"/>
                        </a:rPr>
                        <a:t>свободное время видно на сайте, занятое не выбрать</a:t>
                      </a:r>
                      <a:endParaRPr lang="ru-RU" sz="2000" b="0">
                        <a:solidFill>
                          <a:srgbClr val="1E1E24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152400" marT="101600" marB="1016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7671096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r>
                        <a:rPr lang="ru-RU" sz="2000" b="0" smtClean="0">
                          <a:solidFill>
                            <a:srgbClr val="1E1E24"/>
                          </a:solidFill>
                          <a:latin typeface="Segoe UI" panose="020B0502040204020203" pitchFamily="34" charset="0"/>
                        </a:rPr>
                        <a:t>ответ о цене — больше часа</a:t>
                      </a:r>
                      <a:endParaRPr lang="ru-RU" sz="2000" b="0">
                        <a:solidFill>
                          <a:srgbClr val="1E1E24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152400" marT="101600" marB="101600">
                    <a:solidFill>
                      <a:srgbClr val="ECE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2000" b="0" smtClean="0">
                          <a:solidFill>
                            <a:srgbClr val="1E1E24"/>
                          </a:solidFill>
                          <a:latin typeface="Segoe UI" panose="020B0502040204020203" pitchFamily="34" charset="0"/>
                        </a:rPr>
                        <a:t>итог со скидкой виден до отправки</a:t>
                      </a:r>
                      <a:endParaRPr lang="ru-RU" sz="2000" b="0">
                        <a:solidFill>
                          <a:srgbClr val="1E1E24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152400" marT="101600" marB="101600">
                    <a:solidFill>
                      <a:srgbClr val="ECEA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6209423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r>
                        <a:rPr lang="ru-RU" sz="2000" b="0" smtClean="0">
                          <a:solidFill>
                            <a:srgbClr val="1E1E24"/>
                          </a:solidFill>
                          <a:latin typeface="Segoe UI" panose="020B0502040204020203" pitchFamily="34" charset="0"/>
                        </a:rPr>
                        <a:t>заявки в разных местах</a:t>
                      </a:r>
                      <a:endParaRPr lang="ru-RU" sz="2000" b="0">
                        <a:solidFill>
                          <a:srgbClr val="1E1E24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152400" marT="101600" marB="1016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2000" b="0" smtClean="0">
                          <a:solidFill>
                            <a:srgbClr val="1E1E24"/>
                          </a:solidFill>
                          <a:latin typeface="Segoe UI" panose="020B0502040204020203" pitchFamily="34" charset="0"/>
                        </a:rPr>
                        <a:t>все брони в одной таблице со статусом</a:t>
                      </a:r>
                      <a:endParaRPr lang="ru-RU" sz="2000" b="0">
                        <a:solidFill>
                          <a:srgbClr val="1E1E24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152400" marT="101600" marB="1016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4732646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r>
                        <a:rPr lang="ru-RU" sz="2000" b="0" smtClean="0">
                          <a:solidFill>
                            <a:srgbClr val="1E1E24"/>
                          </a:solidFill>
                          <a:latin typeface="Segoe UI" panose="020B0502040204020203" pitchFamily="34" charset="0"/>
                        </a:rPr>
                        <a:t>30 000 ₽ без понимания отдачи</a:t>
                      </a:r>
                      <a:endParaRPr lang="ru-RU" sz="2000" b="0">
                        <a:solidFill>
                          <a:srgbClr val="1E1E24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152400" marT="101600" marB="101600">
                    <a:solidFill>
                      <a:srgbClr val="ECE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2000" b="0" smtClean="0">
                          <a:solidFill>
                            <a:srgbClr val="1E1E24"/>
                          </a:solidFill>
                          <a:latin typeface="Segoe UI" panose="020B0502040204020203" pitchFamily="34" charset="0"/>
                        </a:rPr>
                        <a:t>у каждой брони есть канал, кампания и пост</a:t>
                      </a:r>
                      <a:endParaRPr lang="ru-RU" sz="2000" b="0">
                        <a:solidFill>
                          <a:srgbClr val="1E1E24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152400" marT="101600" marB="101600">
                    <a:solidFill>
                      <a:srgbClr val="ECEA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6953191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09600" y="54610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2000" dirty="0" smtClean="0">
                <a:solidFill>
                  <a:srgbClr val="2E2E7A"/>
                </a:solidFill>
                <a:latin typeface="Segoe UI" panose="020B0502040204020203" pitchFamily="34" charset="0"/>
              </a:rPr>
              <a:t>Рекомендация: месяц собирать заявки с метками, затем перенести бюджет в канал с наибольшим числом броней в статусе </a:t>
            </a:r>
            <a:r>
              <a:rPr lang="ru-RU" sz="2000" dirty="0" err="1" smtClean="0">
                <a:solidFill>
                  <a:srgbClr val="2E2E7A"/>
                </a:solidFill>
                <a:latin typeface="Segoe UI" panose="020B0502040204020203" pitchFamily="34" charset="0"/>
              </a:rPr>
              <a:t>done</a:t>
            </a:r>
            <a:r>
              <a:rPr lang="ru-RU" sz="2000" dirty="0" smtClean="0">
                <a:solidFill>
                  <a:srgbClr val="2E2E7A"/>
                </a:solidFill>
                <a:latin typeface="Segoe UI" panose="020B0502040204020203" pitchFamily="34" charset="0"/>
              </a:rPr>
              <a:t>.</a:t>
            </a:r>
            <a:endParaRPr lang="ru-RU" sz="2000" dirty="0">
              <a:solidFill>
                <a:srgbClr val="2E2E7A"/>
              </a:solidFill>
              <a:latin typeface="Segoe UI" panose="020B0502040204020203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09600" y="64516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200" smtClean="0">
                <a:solidFill>
                  <a:srgbClr val="5B5B66"/>
                </a:solidFill>
                <a:latin typeface="Segoe UI" panose="020B0502040204020203" pitchFamily="34" charset="0"/>
              </a:rPr>
              <a:t>Кадр 35 · ТЗ-14/2026</a:t>
            </a:r>
            <a:endParaRPr lang="ru-RU" sz="1200">
              <a:solidFill>
                <a:srgbClr val="5B5B66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820400" y="6451600"/>
            <a:ext cx="76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ru-RU" sz="1200" smtClean="0">
                <a:solidFill>
                  <a:srgbClr val="5B5B66"/>
                </a:solidFill>
                <a:latin typeface="Segoe UI" panose="020B0502040204020203" pitchFamily="34" charset="0"/>
              </a:rPr>
              <a:t>11</a:t>
            </a:r>
            <a:endParaRPr lang="ru-RU" sz="1200">
              <a:solidFill>
                <a:srgbClr val="5B5B66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73323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09600" y="431800"/>
            <a:ext cx="109728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3200" b="1" smtClean="0">
                <a:solidFill>
                  <a:srgbClr val="1E1E24"/>
                </a:solidFill>
                <a:latin typeface="Segoe UI Semibold" panose="020B0702040204020203" pitchFamily="34" charset="0"/>
              </a:rPr>
              <a:t>ИИ, сложности и ссылки</a:t>
            </a:r>
            <a:endParaRPr lang="ru-RU" sz="3200" b="1">
              <a:solidFill>
                <a:srgbClr val="1E1E24"/>
              </a:solidFill>
              <a:latin typeface="Segoe UI Semibold" panose="020B0702040204020203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09600" y="1320800"/>
            <a:ext cx="711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>
              <a:spcAft>
                <a:spcPts val="1400"/>
              </a:spcAft>
            </a:pPr>
            <a:r>
              <a:rPr lang="ru-RU" sz="2000" b="1" smtClean="0">
                <a:solidFill>
                  <a:srgbClr val="3D3D9E"/>
                </a:solidFill>
                <a:latin typeface="Segoe UI" panose="020B0502040204020203" pitchFamily="34" charset="0"/>
              </a:rPr>
              <a:t>ИИ</a:t>
            </a:r>
            <a:r>
              <a:rPr lang="en-US" sz="2000" b="1" smtClean="0">
                <a:solidFill>
                  <a:srgbClr val="3D3D9E"/>
                </a:solidFill>
                <a:latin typeface="Segoe UI" panose="020B0502040204020203" pitchFamily="34" charset="0"/>
              </a:rPr>
              <a:t>:</a:t>
            </a:r>
            <a:r>
              <a:rPr lang="en-US" sz="2000" smtClean="0">
                <a:solidFill>
                  <a:srgbClr val="1E1E24"/>
                </a:solidFill>
                <a:latin typeface="Segoe UI" panose="020B0502040204020203" pitchFamily="34" charset="0"/>
              </a:rPr>
              <a:t> </a:t>
            </a:r>
            <a:r>
              <a:rPr lang="ru-RU" sz="2000" dirty="0" smtClean="0">
                <a:solidFill>
                  <a:srgbClr val="1E1E24"/>
                </a:solidFill>
                <a:latin typeface="Segoe UI" panose="020B0502040204020203" pitchFamily="34" charset="0"/>
              </a:rPr>
              <a:t>код сайта</a:t>
            </a:r>
            <a:r>
              <a:rPr lang="en-US" sz="2000" dirty="0" smtClean="0">
                <a:solidFill>
                  <a:srgbClr val="1E1E24"/>
                </a:solidFill>
                <a:latin typeface="Segoe UI" panose="020B0502040204020203" pitchFamily="34" charset="0"/>
              </a:rPr>
              <a:t>, </a:t>
            </a:r>
            <a:r>
              <a:rPr lang="ru-RU" sz="2000" dirty="0" smtClean="0">
                <a:solidFill>
                  <a:srgbClr val="1E1E24"/>
                </a:solidFill>
                <a:latin typeface="Segoe UI" panose="020B0502040204020203" pitchFamily="34" charset="0"/>
              </a:rPr>
              <a:t>тексты, схемы. Запросы — в </a:t>
            </a:r>
            <a:r>
              <a:rPr lang="en-US" sz="2000" dirty="0" smtClean="0">
                <a:solidFill>
                  <a:srgbClr val="1E1E24"/>
                </a:solidFill>
                <a:latin typeface="Segoe UI" panose="020B0502040204020203" pitchFamily="34" charset="0"/>
              </a:rPr>
              <a:t>docs/prompts.md.</a:t>
            </a:r>
          </a:p>
          <a:p>
            <a:pPr>
              <a:spcAft>
                <a:spcPts val="1400"/>
              </a:spcAft>
            </a:pPr>
            <a:r>
              <a:rPr lang="ru-RU" sz="2000" b="1" dirty="0" smtClean="0">
                <a:solidFill>
                  <a:srgbClr val="3D3D9E"/>
                </a:solidFill>
                <a:latin typeface="Segoe UI" panose="020B0502040204020203" pitchFamily="34" charset="0"/>
              </a:rPr>
              <a:t>Сам:</a:t>
            </a:r>
            <a:r>
              <a:rPr lang="ru-RU" sz="2000" dirty="0" smtClean="0">
                <a:solidFill>
                  <a:srgbClr val="1E1E24"/>
                </a:solidFill>
                <a:latin typeface="Segoe UI" panose="020B0502040204020203" pitchFamily="34" charset="0"/>
              </a:rPr>
              <a:t> аккаунты, публикации в </a:t>
            </a:r>
            <a:r>
              <a:rPr lang="en-US" sz="2000" dirty="0" smtClean="0">
                <a:solidFill>
                  <a:srgbClr val="1E1E24"/>
                </a:solidFill>
                <a:latin typeface="Segoe UI" panose="020B0502040204020203" pitchFamily="34" charset="0"/>
              </a:rPr>
              <a:t>Instagram, </a:t>
            </a:r>
            <a:r>
              <a:rPr lang="ru-RU" sz="2000" dirty="0" err="1" smtClean="0">
                <a:solidFill>
                  <a:srgbClr val="1E1E24"/>
                </a:solidFill>
                <a:latin typeface="Segoe UI" panose="020B0502040204020203" pitchFamily="34" charset="0"/>
              </a:rPr>
              <a:t>ВКонтакте</a:t>
            </a:r>
            <a:r>
              <a:rPr lang="ru-RU" sz="2000" dirty="0" smtClean="0">
                <a:solidFill>
                  <a:srgbClr val="1E1E24"/>
                </a:solidFill>
                <a:latin typeface="Segoe UI" panose="020B0502040204020203" pitchFamily="34" charset="0"/>
              </a:rPr>
              <a:t> и </a:t>
            </a:r>
            <a:r>
              <a:rPr lang="en-US" sz="2000" dirty="0" smtClean="0">
                <a:solidFill>
                  <a:srgbClr val="1E1E24"/>
                </a:solidFill>
                <a:latin typeface="Segoe UI" panose="020B0502040204020203" pitchFamily="34" charset="0"/>
              </a:rPr>
              <a:t>Telegram, </a:t>
            </a:r>
            <a:r>
              <a:rPr lang="ru-RU" sz="2000" dirty="0" smtClean="0">
                <a:solidFill>
                  <a:srgbClr val="1E1E24"/>
                </a:solidFill>
                <a:latin typeface="Segoe UI" panose="020B0502040204020203" pitchFamily="34" charset="0"/>
              </a:rPr>
              <a:t>автоответы </a:t>
            </a:r>
            <a:r>
              <a:rPr lang="en-US" sz="2000" dirty="0" err="1" smtClean="0">
                <a:solidFill>
                  <a:srgbClr val="1E1E24"/>
                </a:solidFill>
                <a:latin typeface="Segoe UI" panose="020B0502040204020203" pitchFamily="34" charset="0"/>
              </a:rPr>
              <a:t>ManyChat</a:t>
            </a:r>
            <a:r>
              <a:rPr lang="en-US" sz="2000" dirty="0" smtClean="0">
                <a:solidFill>
                  <a:srgbClr val="1E1E24"/>
                </a:solidFill>
                <a:latin typeface="Segoe UI" panose="020B0502040204020203" pitchFamily="34" charset="0"/>
              </a:rPr>
              <a:t>,</a:t>
            </a:r>
            <a:r>
              <a:rPr lang="ru-RU" sz="2000" dirty="0" smtClean="0">
                <a:solidFill>
                  <a:srgbClr val="1E1E24"/>
                </a:solidFill>
                <a:latin typeface="Segoe UI" panose="020B0502040204020203" pitchFamily="34" charset="0"/>
              </a:rPr>
              <a:t> </a:t>
            </a:r>
            <a:r>
              <a:rPr lang="en-US" sz="2000" dirty="0">
                <a:solidFill>
                  <a:srgbClr val="1E1E24"/>
                </a:solidFill>
                <a:latin typeface="Segoe UI" panose="020B0502040204020203" pitchFamily="34" charset="0"/>
              </a:rPr>
              <a:t>Apps </a:t>
            </a:r>
            <a:r>
              <a:rPr lang="en-US" sz="2000" dirty="0" smtClean="0">
                <a:solidFill>
                  <a:srgbClr val="1E1E24"/>
                </a:solidFill>
                <a:latin typeface="Segoe UI" panose="020B0502040204020203" pitchFamily="34" charset="0"/>
              </a:rPr>
              <a:t>Script</a:t>
            </a:r>
            <a:r>
              <a:rPr lang="ru-RU" sz="2000" dirty="0">
                <a:solidFill>
                  <a:srgbClr val="1E1E24"/>
                </a:solidFill>
                <a:latin typeface="Segoe UI" panose="020B0502040204020203" pitchFamily="34" charset="0"/>
              </a:rPr>
              <a:t>,</a:t>
            </a:r>
            <a:r>
              <a:rPr lang="en-US" sz="2000" dirty="0" smtClean="0">
                <a:solidFill>
                  <a:srgbClr val="1E1E24"/>
                </a:solidFill>
                <a:latin typeface="Segoe UI" panose="020B0502040204020203" pitchFamily="34" charset="0"/>
              </a:rPr>
              <a:t> </a:t>
            </a:r>
            <a:r>
              <a:rPr lang="ru-RU" sz="2000" dirty="0" smtClean="0">
                <a:solidFill>
                  <a:srgbClr val="1E1E24"/>
                </a:solidFill>
                <a:latin typeface="Segoe UI" panose="020B0502040204020203" pitchFamily="34" charset="0"/>
              </a:rPr>
              <a:t>проверки с телефона</a:t>
            </a:r>
            <a:r>
              <a:rPr lang="ru-RU" sz="2000" dirty="0">
                <a:solidFill>
                  <a:srgbClr val="1E1E24"/>
                </a:solidFill>
                <a:latin typeface="Segoe UI" panose="020B0502040204020203" pitchFamily="34" charset="0"/>
              </a:rPr>
              <a:t>, презентация, настройка отчётов </a:t>
            </a:r>
            <a:r>
              <a:rPr lang="en-US" sz="2000" dirty="0">
                <a:solidFill>
                  <a:srgbClr val="1E1E24"/>
                </a:solidFill>
                <a:latin typeface="Segoe UI" panose="020B0502040204020203" pitchFamily="34" charset="0"/>
              </a:rPr>
              <a:t>GA4.</a:t>
            </a:r>
            <a:r>
              <a:rPr lang="ru-RU" sz="2000" dirty="0" smtClean="0">
                <a:solidFill>
                  <a:srgbClr val="1E1E24"/>
                </a:solidFill>
                <a:latin typeface="Segoe UI" panose="020B0502040204020203" pitchFamily="34" charset="0"/>
              </a:rPr>
              <a:t>.</a:t>
            </a:r>
          </a:p>
          <a:p>
            <a:pPr>
              <a:spcAft>
                <a:spcPts val="1400"/>
              </a:spcAft>
            </a:pPr>
            <a:r>
              <a:rPr lang="ru-RU" sz="2000" b="1" dirty="0" smtClean="0">
                <a:solidFill>
                  <a:srgbClr val="3D3D9E"/>
                </a:solidFill>
                <a:latin typeface="Segoe UI" panose="020B0502040204020203" pitchFamily="34" charset="0"/>
              </a:rPr>
              <a:t>Сложно:</a:t>
            </a:r>
            <a:r>
              <a:rPr lang="ru-RU" sz="2000" dirty="0" smtClean="0">
                <a:solidFill>
                  <a:srgbClr val="1E1E24"/>
                </a:solidFill>
                <a:latin typeface="Segoe UI" panose="020B0502040204020203" pitchFamily="34" charset="0"/>
              </a:rPr>
              <a:t> блокировки </a:t>
            </a:r>
            <a:r>
              <a:rPr lang="en-US" sz="2000" dirty="0" smtClean="0">
                <a:solidFill>
                  <a:srgbClr val="1E1E24"/>
                </a:solidFill>
                <a:latin typeface="Segoe UI" panose="020B0502040204020203" pitchFamily="34" charset="0"/>
              </a:rPr>
              <a:t>Instagram </a:t>
            </a:r>
            <a:r>
              <a:rPr lang="ru-RU" sz="2000" dirty="0" smtClean="0">
                <a:solidFill>
                  <a:srgbClr val="1E1E24"/>
                </a:solidFill>
                <a:latin typeface="Segoe UI" panose="020B0502040204020203" pitchFamily="34" charset="0"/>
              </a:rPr>
              <a:t>и </a:t>
            </a:r>
            <a:r>
              <a:rPr lang="en-US" sz="2000" dirty="0" err="1" smtClean="0">
                <a:solidFill>
                  <a:srgbClr val="1E1E24"/>
                </a:solidFill>
                <a:latin typeface="Segoe UI" panose="020B0502040204020203" pitchFamily="34" charset="0"/>
              </a:rPr>
              <a:t>ManyChat</a:t>
            </a:r>
            <a:r>
              <a:rPr lang="en-US" sz="2000" dirty="0" smtClean="0">
                <a:solidFill>
                  <a:srgbClr val="1E1E24"/>
                </a:solidFill>
                <a:latin typeface="Segoe UI" panose="020B0502040204020203" pitchFamily="34" charset="0"/>
              </a:rPr>
              <a:t>, </a:t>
            </a:r>
            <a:r>
              <a:rPr lang="ru-RU" sz="2000" dirty="0" smtClean="0">
                <a:solidFill>
                  <a:srgbClr val="1E1E24"/>
                </a:solidFill>
                <a:latin typeface="Segoe UI" panose="020B0502040204020203" pitchFamily="34" charset="0"/>
              </a:rPr>
              <a:t>события </a:t>
            </a:r>
            <a:r>
              <a:rPr lang="en-US" sz="2000" dirty="0" smtClean="0">
                <a:solidFill>
                  <a:srgbClr val="1E1E24"/>
                </a:solidFill>
                <a:latin typeface="Segoe UI" panose="020B0502040204020203" pitchFamily="34" charset="0"/>
              </a:rPr>
              <a:t>GA4 </a:t>
            </a:r>
            <a:r>
              <a:rPr lang="ru-RU" sz="2000" dirty="0" smtClean="0">
                <a:solidFill>
                  <a:srgbClr val="1E1E24"/>
                </a:solidFill>
                <a:latin typeface="Segoe UI" panose="020B0502040204020203" pitchFamily="34" charset="0"/>
              </a:rPr>
              <a:t>с телефона через </a:t>
            </a:r>
            <a:r>
              <a:rPr lang="en-US" sz="2000" dirty="0" smtClean="0">
                <a:solidFill>
                  <a:srgbClr val="1E1E24"/>
                </a:solidFill>
                <a:latin typeface="Segoe UI" panose="020B0502040204020203" pitchFamily="34" charset="0"/>
              </a:rPr>
              <a:t>VPN </a:t>
            </a:r>
            <a:r>
              <a:rPr lang="ru-RU" sz="2000" dirty="0" smtClean="0">
                <a:solidFill>
                  <a:srgbClr val="1E1E24"/>
                </a:solidFill>
                <a:latin typeface="Segoe UI" panose="020B0502040204020203" pitchFamily="34" charset="0"/>
              </a:rPr>
              <a:t>не доходили.</a:t>
            </a:r>
          </a:p>
          <a:p>
            <a:pPr>
              <a:spcAft>
                <a:spcPts val="1400"/>
              </a:spcAft>
            </a:pPr>
            <a:r>
              <a:rPr lang="ru-RU" sz="2000" b="1" dirty="0" smtClean="0">
                <a:solidFill>
                  <a:srgbClr val="3D3D9E"/>
                </a:solidFill>
                <a:latin typeface="Segoe UI" panose="020B0502040204020203" pitchFamily="34" charset="0"/>
              </a:rPr>
              <a:t>Не сделано:</a:t>
            </a:r>
            <a:r>
              <a:rPr lang="ru-RU" sz="2000" dirty="0" smtClean="0">
                <a:solidFill>
                  <a:srgbClr val="1E1E24"/>
                </a:solidFill>
                <a:latin typeface="Segoe UI" panose="020B0502040204020203" pitchFamily="34" charset="0"/>
              </a:rPr>
              <a:t> </a:t>
            </a:r>
            <a:r>
              <a:rPr lang="ru-RU" sz="2000" dirty="0" err="1" smtClean="0">
                <a:solidFill>
                  <a:srgbClr val="1E1E24"/>
                </a:solidFill>
                <a:latin typeface="Segoe UI" panose="020B0502040204020203" pitchFamily="34" charset="0"/>
              </a:rPr>
              <a:t>дашборд</a:t>
            </a:r>
            <a:r>
              <a:rPr lang="ru-RU" sz="2000" dirty="0" smtClean="0">
                <a:solidFill>
                  <a:srgbClr val="1E1E24"/>
                </a:solidFill>
                <a:latin typeface="Segoe UI" panose="020B0502040204020203" pitchFamily="34" charset="0"/>
              </a:rPr>
              <a:t> </a:t>
            </a:r>
            <a:r>
              <a:rPr lang="en-US" sz="2000" dirty="0" err="1" smtClean="0">
                <a:solidFill>
                  <a:srgbClr val="1E1E24"/>
                </a:solidFill>
                <a:latin typeface="Segoe UI" panose="020B0502040204020203" pitchFamily="34" charset="0"/>
              </a:rPr>
              <a:t>DataLens</a:t>
            </a:r>
            <a:r>
              <a:rPr lang="en-US" sz="2000" dirty="0" smtClean="0">
                <a:solidFill>
                  <a:srgbClr val="1E1E24"/>
                </a:solidFill>
                <a:latin typeface="Segoe UI" panose="020B0502040204020203" pitchFamily="34" charset="0"/>
              </a:rPr>
              <a:t>, YouTube </a:t>
            </a:r>
            <a:r>
              <a:rPr lang="ru-RU" sz="2000" dirty="0" smtClean="0">
                <a:solidFill>
                  <a:srgbClr val="1E1E24"/>
                </a:solidFill>
                <a:latin typeface="Segoe UI" panose="020B0502040204020203" pitchFamily="34" charset="0"/>
              </a:rPr>
              <a:t>и партнёры.</a:t>
            </a:r>
            <a:endParaRPr lang="ru-RU" sz="2000" dirty="0">
              <a:solidFill>
                <a:srgbClr val="1E1E24"/>
              </a:solidFill>
              <a:latin typeface="Segoe UI" panose="020B0502040204020203" pitchFamily="34" charset="0"/>
            </a:endParaRPr>
          </a:p>
        </p:txBody>
      </p:sp>
      <p:sp>
        <p:nvSpPr>
          <p:cNvPr id="4" name="Скругленный прямоугольник 3"/>
          <p:cNvSpPr/>
          <p:nvPr/>
        </p:nvSpPr>
        <p:spPr>
          <a:xfrm>
            <a:off x="8255000" y="1320800"/>
            <a:ext cx="3327400" cy="4191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>
            <a:outerShdw blurRad="152400" dist="38100" dir="5400000" rotWithShape="0">
              <a:srgbClr val="1E1E24">
                <a:alpha val="15000"/>
              </a:srgbClr>
            </a:outerShdw>
          </a:effectLst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 descr="QR-код на репозиторий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75700" y="1574800"/>
            <a:ext cx="2286000" cy="228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407400" y="4038600"/>
            <a:ext cx="30226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400" smtClean="0">
                <a:solidFill>
                  <a:srgbClr val="5B5B66"/>
                </a:solidFill>
                <a:latin typeface="Segoe UI" panose="020B0502040204020203" pitchFamily="34" charset="0"/>
              </a:rPr>
              <a:t>github.com/vadimshadowmantle/</a:t>
            </a:r>
          </a:p>
          <a:p>
            <a:pPr algn="ctr"/>
            <a:r>
              <a:rPr lang="en-US" sz="1400" smtClean="0">
                <a:solidFill>
                  <a:srgbClr val="5B5B66"/>
                </a:solidFill>
                <a:latin typeface="Segoe UI" panose="020B0502040204020203" pitchFamily="34" charset="0"/>
              </a:rPr>
              <a:t>tz-14-fotostudiya-kadr35</a:t>
            </a:r>
            <a:endParaRPr lang="ru-RU" sz="1400">
              <a:solidFill>
                <a:srgbClr val="5B5B66"/>
              </a:solidFill>
              <a:latin typeface="Segoe UI" panose="020B0502040204020203" pitchFamily="34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407400" y="4826000"/>
            <a:ext cx="30226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400" b="1" smtClean="0">
                <a:solidFill>
                  <a:srgbClr val="3D3D9E"/>
                </a:solidFill>
                <a:latin typeface="Segoe UI" panose="020B0502040204020203" pitchFamily="34" charset="0"/>
              </a:rPr>
              <a:t>tz-14-fotostudiya-kadr35.vercel.app</a:t>
            </a:r>
            <a:endParaRPr lang="ru-RU" sz="1400" b="1">
              <a:solidFill>
                <a:srgbClr val="3D3D9E"/>
              </a:solidFill>
              <a:latin typeface="Segoe UI" panose="020B0502040204020203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09600" y="6451600"/>
            <a:ext cx="3810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ru-RU" sz="1200" smtClean="0">
                <a:solidFill>
                  <a:srgbClr val="5B5B66"/>
                </a:solidFill>
                <a:latin typeface="Segoe UI" panose="020B0502040204020203" pitchFamily="34" charset="0"/>
              </a:rPr>
              <a:t>Кадр 35 · ТЗ-14/2026</a:t>
            </a:r>
            <a:endParaRPr lang="ru-RU" sz="1200">
              <a:solidFill>
                <a:srgbClr val="5B5B66"/>
              </a:solidFill>
              <a:latin typeface="Segoe UI" panose="020B0502040204020203" pitchFamily="34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820400" y="6451600"/>
            <a:ext cx="76200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ru-RU" sz="1200" smtClean="0">
                <a:solidFill>
                  <a:srgbClr val="5B5B66"/>
                </a:solidFill>
                <a:latin typeface="Segoe UI" panose="020B0502040204020203" pitchFamily="34" charset="0"/>
              </a:rPr>
              <a:t>12</a:t>
            </a:r>
            <a:endParaRPr lang="ru-RU" sz="1200">
              <a:solidFill>
                <a:srgbClr val="5B5B66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91870323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1043</Words>
  <Application>Microsoft Office PowerPoint</Application>
  <PresentationFormat>Широкоэкранный</PresentationFormat>
  <Paragraphs>114</Paragraphs>
  <Slides>12</Slides>
  <Notes>12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8" baseType="lpstr">
      <vt:lpstr>Arial</vt:lpstr>
      <vt:lpstr>Calibri</vt:lpstr>
      <vt:lpstr>Calibri Light</vt:lpstr>
      <vt:lpstr>Segoe UI</vt:lpstr>
      <vt:lpstr>Segoe UI Semibold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HYPERPC</dc:creator>
  <cp:lastModifiedBy>HYPERPC</cp:lastModifiedBy>
  <cp:revision>5</cp:revision>
  <dcterms:created xsi:type="dcterms:W3CDTF">2026-10-28T22:59:15Z</dcterms:created>
  <dcterms:modified xsi:type="dcterms:W3CDTF">2026-10-31T20:19:25Z</dcterms:modified>
</cp:coreProperties>
</file>