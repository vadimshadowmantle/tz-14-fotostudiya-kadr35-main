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332B7-93F2-4450-B263-842CDF9D5BA6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79AF6-F053-40E4-8472-E15365A642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32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Здравствуйте. Моя работа — сайт бронирования залов для фотостудии «Кадр 35» и сквозная аналитика заявок: от перехода по ссылке в соцсети до строки в таблице. Расскажу, какую проблему решал, как устроено решение и что показали данные.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492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Брони велись вручную в календаре администратора, заявки приходили в </a:t>
            </a:r>
            <a:r>
              <a:rPr lang="ru-RU" dirty="0" err="1" smtClean="0"/>
              <a:t>Instagram</a:t>
            </a:r>
            <a:r>
              <a:rPr lang="ru-RU" dirty="0" smtClean="0"/>
              <a:t>, </a:t>
            </a:r>
            <a:r>
              <a:rPr lang="ru-RU" dirty="0" err="1" smtClean="0"/>
              <a:t>Telegram</a:t>
            </a:r>
            <a:r>
              <a:rPr lang="ru-RU" dirty="0" smtClean="0"/>
              <a:t> и по телефону. Отсюда двойные брони и долгие ответы. Студия тратит 30 тысяч в месяц на продвижение, но не знает, какой канал приносит клиентов. А Новогодний зал в прошлом декабре был занят почти полностью — значит, спрос есть, нужна удобная бронь.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292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Посетитель приходит из </a:t>
            </a:r>
            <a:r>
              <a:rPr lang="ru-RU" dirty="0" err="1" smtClean="0"/>
              <a:t>соцсетей</a:t>
            </a:r>
            <a:r>
              <a:rPr lang="ru-RU" dirty="0" smtClean="0"/>
              <a:t> или по QR-коду по ссылке с UTM-метками, либо получает ссылку в </a:t>
            </a:r>
            <a:r>
              <a:rPr lang="ru-RU" dirty="0" err="1" smtClean="0"/>
              <a:t>Direct</a:t>
            </a:r>
            <a:r>
              <a:rPr lang="ru-RU" dirty="0" smtClean="0"/>
              <a:t> от автоответа </a:t>
            </a:r>
            <a:r>
              <a:rPr lang="ru-RU" dirty="0" err="1" smtClean="0"/>
              <a:t>ManyChat</a:t>
            </a:r>
            <a:r>
              <a:rPr lang="ru-RU" dirty="0" smtClean="0"/>
              <a:t>. Сайт отправляет события в </a:t>
            </a:r>
            <a:r>
              <a:rPr lang="ru-RU" dirty="0" err="1" smtClean="0"/>
              <a:t>Google</a:t>
            </a:r>
            <a:r>
              <a:rPr lang="ru-RU" dirty="0" smtClean="0"/>
              <a:t> </a:t>
            </a:r>
            <a:r>
              <a:rPr lang="ru-RU" dirty="0" err="1" smtClean="0"/>
              <a:t>Analytics</a:t>
            </a:r>
            <a:r>
              <a:rPr lang="ru-RU" dirty="0" smtClean="0"/>
              <a:t> 4, а бронь — через </a:t>
            </a:r>
            <a:r>
              <a:rPr lang="ru-RU" dirty="0" err="1" smtClean="0"/>
              <a:t>Apps</a:t>
            </a:r>
            <a:r>
              <a:rPr lang="ru-RU" dirty="0" smtClean="0"/>
              <a:t> </a:t>
            </a:r>
            <a:r>
              <a:rPr lang="ru-RU" dirty="0" err="1" smtClean="0"/>
              <a:t>Script</a:t>
            </a:r>
            <a:r>
              <a:rPr lang="ru-RU" dirty="0" smtClean="0"/>
              <a:t> в </a:t>
            </a:r>
            <a:r>
              <a:rPr lang="ru-RU" dirty="0" err="1" smtClean="0"/>
              <a:t>Google</a:t>
            </a:r>
            <a:r>
              <a:rPr lang="ru-RU" dirty="0" smtClean="0"/>
              <a:t> Таблицу вместе с метками. Так у каждой заявки виден источник.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882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Сайт статический: HTML, CSS и JavaScript без сборки, опубликован на Vercel и обновляется после каждого push. Девять страниц плюс 404, адаптивность под телефон. Lighthouse в мобильном режиме: производительность 83, доступность и SEO по 100.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932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Главная страница сценария — бронь. Посетитель выбирает зал, дату, время и число часов, занятые часы выбрать нельзя. Цена считается по часам: утром в будни скидка 20 процентов. Пример из испытаний: Циклорама, 10 утра, 2 часа — 3 520 рублей, и в GA4 приходит событие slot_select с этой суммой.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803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Здесь путь одной заявки. Человек приходит по ссылке с UTM-метками, сайт сохраняет их на время сессии, и при отправке формы они попадают в таблицу вместе с бронью. После ответа приёмника ok:true в GA4 уходит ключевое событие generate_lead. Это можно показать вживую.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473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 </a:t>
            </a:r>
            <a:r>
              <a:rPr lang="ru-RU" dirty="0" err="1" smtClean="0"/>
              <a:t>Reel</a:t>
            </a:r>
            <a:r>
              <a:rPr lang="ru-RU" dirty="0" smtClean="0"/>
              <a:t> работают две ветки автоответов </a:t>
            </a:r>
            <a:r>
              <a:rPr lang="ru-RU" dirty="0" err="1" smtClean="0"/>
              <a:t>ManyChat</a:t>
            </a:r>
            <a:r>
              <a:rPr lang="ru-RU" dirty="0" smtClean="0"/>
              <a:t>. На слово ИДЕИ человек получает ответ в комментариях и сообщение в </a:t>
            </a:r>
            <a:r>
              <a:rPr lang="ru-RU" dirty="0" err="1" smtClean="0"/>
              <a:t>Direct</a:t>
            </a:r>
            <a:r>
              <a:rPr lang="ru-RU" dirty="0" smtClean="0"/>
              <a:t> с кнопкой на страницу идей, на слово СЕМЬЯ — на семейных фотографов с уже включённым фильтром. Ссылки кнопок взяты из реестра UTM, поэтому в таблице видно, какая ветка привела заявку.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24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В GA4 настроено 20 событий, 14 из них свои. Все вызовы собраны в одном файле analytics.js, кнопки размечены атрибутами data-event. Зарегистрировано 7 пользовательских параметров, ключевые события — заявка, клик по контакту и по мессенджеру. Каждое событие проверено в DebugView.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939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Все ссылки собраны в реестре: 12 строк, у каждой своя комбинация меток. Восемь опубликованы — в Instagram, ВКонтакте и Telegram, для афиши сделан QR-код. По заявкам из ВКонтакте в таблице видно, с какого именно поста пришёл человек.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57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Воронка из пяти шагов показала главную потерю на первом шаге: девять из десяти посетителей не открывают ни одной карточки зала. На телефоне до заявки не дошёл никто, на компьютере — один из семи. Гипотеза: на телефоне не видно, где выбрать зал. Проверить можно, добавив кнопку на первый экран и сравнив воронку по устройствам до и после. Данных мало, все визиты — проверочные, это ограничение.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019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Итог для бизнеса: свободное время видно на сайте, цена считается сразу, все брони в одной таблице со статусом, а у каждой брони есть канал и конкретный пост. Рекомендация: месяц собирать заявки с метками и потом перераспределить бюджет в канал, который даёт больше всего состоявшихся броней.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830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79AF6-F053-40E4-8472-E15365A642B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9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23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55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53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72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27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09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78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96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09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28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7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E1660-7F06-4EE5-BCB1-0847768AFA7E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2D0AC-5A5B-4106-A17D-BA6B6FB86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7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Новогодний зал студии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5969000" cy="6858000"/>
          </a:xfrm>
          <a:prstGeom prst="rect">
            <a:avLst/>
          </a:prstGeom>
          <a:solidFill>
            <a:srgbClr val="3D3D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09600" y="609600"/>
            <a:ext cx="711200" cy="711200"/>
          </a:xfrm>
          <a:prstGeom prst="roundRect">
            <a:avLst>
              <a:gd name="adj" fmla="val 22000"/>
            </a:avLst>
          </a:prstGeom>
          <a:solidFill>
            <a:srgbClr val="2E2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smtClean="0">
                <a:solidFill>
                  <a:srgbClr val="F2C14E"/>
                </a:solidFill>
                <a:latin typeface="Segoe UI Semibold" panose="020B0702040204020203" pitchFamily="34" charset="0"/>
              </a:rPr>
              <a:t>35</a:t>
            </a:r>
            <a:endParaRPr lang="ru-RU" sz="2200" b="1">
              <a:solidFill>
                <a:srgbClr val="F2C14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778000"/>
            <a:ext cx="4811059" cy="19094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 dirty="0" smtClean="0">
                <a:solidFill>
                  <a:srgbClr val="FFFFFF"/>
                </a:solidFill>
                <a:latin typeface="Segoe UI Semibold" panose="020B0702040204020203" pitchFamily="34" charset="0"/>
              </a:rPr>
              <a:t>Сайт бронирования залов и сквозная аналитика заявок для фотостудии «Кадр 35»</a:t>
            </a:r>
            <a:endParaRPr lang="ru-RU" sz="3000" b="1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09600" y="4191000"/>
            <a:ext cx="4953000" cy="4318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ТЗ № ТЗ-14/2026 · ОП.03</a:t>
            </a:r>
            <a:endParaRPr lang="ru-RU" sz="1600" b="1" dirty="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599" y="4978399"/>
            <a:ext cx="4996329" cy="6932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dirty="0" smtClean="0">
                <a:solidFill>
                  <a:srgbClr val="ECEAF6"/>
                </a:solidFill>
                <a:latin typeface="Segoe UI" panose="020B0502040204020203" pitchFamily="34" charset="0"/>
              </a:rPr>
              <a:t>Бурмистров Вадим Александрович</a:t>
            </a:r>
          </a:p>
          <a:p>
            <a:r>
              <a:rPr lang="ru-RU" sz="2000" dirty="0" smtClean="0">
                <a:solidFill>
                  <a:srgbClr val="ECEAF6"/>
                </a:solidFill>
                <a:latin typeface="Segoe UI" panose="020B0502040204020203" pitchFamily="34" charset="0"/>
              </a:rPr>
              <a:t>группа 11/1-РПО-26/1</a:t>
            </a:r>
            <a:endParaRPr lang="ru-RU" sz="2000" dirty="0">
              <a:solidFill>
                <a:srgbClr val="ECEAF6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CFCDE0"/>
                </a:solidFill>
                <a:latin typeface="Segoe UI" panose="020B0502040204020203" pitchFamily="34" charset="0"/>
              </a:rPr>
              <a:t>1</a:t>
            </a:r>
            <a:endParaRPr lang="ru-RU" sz="1200">
              <a:solidFill>
                <a:srgbClr val="CFCDE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2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Проблема заказчика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1422400"/>
            <a:ext cx="54102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1E1E24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14400" y="1676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 smtClean="0">
                <a:solidFill>
                  <a:srgbClr val="3D3D9E"/>
                </a:solidFill>
                <a:latin typeface="Segoe UI Semibold" panose="020B0702040204020203" pitchFamily="34" charset="0"/>
              </a:rPr>
              <a:t>2</a:t>
            </a:r>
            <a:endParaRPr lang="ru-RU" sz="4400" b="1">
              <a:solidFill>
                <a:srgbClr val="3D3D9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smtClean="0">
                <a:solidFill>
                  <a:srgbClr val="5B5B66"/>
                </a:solidFill>
                <a:latin typeface="Segoe UI" panose="020B0502040204020203" pitchFamily="34" charset="0"/>
              </a:rPr>
              <a:t>двойные брони одного зала в сентябре 2026</a:t>
            </a:r>
            <a:endParaRPr lang="ru-RU" sz="20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172200" y="1422400"/>
            <a:ext cx="54102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1E1E24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477000" y="1676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 smtClean="0">
                <a:solidFill>
                  <a:srgbClr val="3D3D9E"/>
                </a:solidFill>
                <a:latin typeface="Segoe UI Semibold" panose="020B0702040204020203" pitchFamily="34" charset="0"/>
              </a:rPr>
              <a:t>≈ 60</a:t>
            </a:r>
            <a:endParaRPr lang="ru-RU" sz="4400" b="1">
              <a:solidFill>
                <a:srgbClr val="3D3D9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2514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smtClean="0">
                <a:solidFill>
                  <a:srgbClr val="5B5B66"/>
                </a:solidFill>
                <a:latin typeface="Segoe UI" panose="020B0502040204020203" pitchFamily="34" charset="0"/>
              </a:rPr>
              <a:t>вопросов о свободном времени — ответ позже чем через час</a:t>
            </a:r>
            <a:endParaRPr lang="ru-RU" sz="20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09600" y="3657600"/>
            <a:ext cx="54102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1E1E24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914400" y="3911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 smtClean="0">
                <a:solidFill>
                  <a:srgbClr val="3D3D9E"/>
                </a:solidFill>
                <a:latin typeface="Segoe UI Semibold" panose="020B0702040204020203" pitchFamily="34" charset="0"/>
              </a:rPr>
              <a:t>30 000 ₽</a:t>
            </a:r>
            <a:endParaRPr lang="ru-RU" sz="4400" b="1">
              <a:solidFill>
                <a:srgbClr val="3D3D9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749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smtClean="0">
                <a:solidFill>
                  <a:srgbClr val="5B5B66"/>
                </a:solidFill>
                <a:latin typeface="Segoe UI" panose="020B0502040204020203" pitchFamily="34" charset="0"/>
              </a:rPr>
              <a:t>в месяц на продвижение без понимания, какой канал приводит брони</a:t>
            </a:r>
            <a:endParaRPr lang="ru-RU" sz="20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172200" y="3657600"/>
            <a:ext cx="54102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1E1E24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477000" y="3911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 smtClean="0">
                <a:solidFill>
                  <a:srgbClr val="3D3D9E"/>
                </a:solidFill>
                <a:latin typeface="Segoe UI Semibold" panose="020B0702040204020203" pitchFamily="34" charset="0"/>
              </a:rPr>
              <a:t>94 %</a:t>
            </a:r>
            <a:endParaRPr lang="ru-RU" sz="4400" b="1">
              <a:solidFill>
                <a:srgbClr val="3D3D9E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7000" y="4749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smtClean="0">
                <a:solidFill>
                  <a:srgbClr val="5B5B66"/>
                </a:solidFill>
                <a:latin typeface="Segoe UI" panose="020B0502040204020203" pitchFamily="34" charset="0"/>
              </a:rPr>
              <a:t>часов Новогоднего зала было занято в декабре 2025</a:t>
            </a:r>
            <a:endParaRPr lang="ru-RU" sz="20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2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99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Схема решения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Схема работы: соцсети и QR → сайт → GA4 и Google Таблиц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889" y="1270000"/>
            <a:ext cx="8918222" cy="501650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3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9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Сайт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Главная страница на компьютере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76363"/>
            <a:ext cx="5715000" cy="3571875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pic>
        <p:nvPicPr>
          <p:cNvPr id="4" name="Рисунок 3" descr="Главная страница на телефоне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1671320"/>
            <a:ext cx="1905000" cy="412496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8763000" y="1524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9 страниц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и 404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Vercel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, обновление после </a:t>
            </a: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push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в </a:t>
            </a: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main</a:t>
            </a:r>
            <a:endParaRPr lang="ru-RU" sz="2000" dirty="0" smtClean="0">
              <a:solidFill>
                <a:srgbClr val="1E1E24"/>
              </a:solidFill>
              <a:latin typeface="Segoe UI" panose="020B0502040204020203" pitchFamily="34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Lighthouse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на телефоне: </a:t>
            </a: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83 · 100 · 100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создан с помощью </a:t>
            </a: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нейросети</a:t>
            </a:r>
            <a:endParaRPr lang="ru-RU" sz="2000" dirty="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4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6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Бронь: свободные часы и цена сразу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Расчёт брони на странице контактов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93" y="1270000"/>
            <a:ext cx="5589814" cy="501650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959600" y="1524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занятое время выбрать нельзя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скидка 20 % в будни с 09:00 до 12:00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Циклорама, будни, 10:00, 2 часа: 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2 × 2 200 × 0,8 = 3 520 ₽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Новогодний зал — только 01.12–10.01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5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8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Путь заявки: источник не теряется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Адрес страницы с UTM-метками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36378"/>
            <a:ext cx="2921000" cy="1442244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09600" y="3962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5B5B66"/>
                </a:solidFill>
                <a:latin typeface="Segoe UI" panose="020B0502040204020203" pitchFamily="34" charset="0"/>
              </a:rPr>
              <a:t>ссылка с </a:t>
            </a:r>
            <a:r>
              <a:rPr lang="en-US" sz="1600" smtClean="0">
                <a:solidFill>
                  <a:srgbClr val="5B5B66"/>
                </a:solidFill>
                <a:latin typeface="Segoe UI" panose="020B0502040204020203" pitchFamily="34" charset="0"/>
              </a:rPr>
              <a:t>UTM-</a:t>
            </a:r>
            <a:r>
              <a:rPr lang="ru-RU" sz="1600" smtClean="0">
                <a:solidFill>
                  <a:srgbClr val="5B5B66"/>
                </a:solidFill>
                <a:latin typeface="Segoe UI" panose="020B0502040204020203" pitchFamily="34" charset="0"/>
              </a:rPr>
              <a:t>метками</a:t>
            </a:r>
            <a:endParaRPr lang="ru-RU" sz="16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Стрелка вправо 4"/>
          <p:cNvSpPr/>
          <p:nvPr/>
        </p:nvSpPr>
        <p:spPr>
          <a:xfrm>
            <a:off x="3683000" y="2667000"/>
            <a:ext cx="381000" cy="304800"/>
          </a:xfrm>
          <a:prstGeom prst="rightArrow">
            <a:avLst/>
          </a:prstGeom>
          <a:solidFill>
            <a:srgbClr val="3D3D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216400" y="3962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5B5B66"/>
                </a:solidFill>
                <a:latin typeface="Segoe UI" panose="020B0502040204020203" pitchFamily="34" charset="0"/>
              </a:rPr>
              <a:t>строка в листе leads с метками</a:t>
            </a:r>
            <a:endParaRPr lang="ru-RU" sz="16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9194800" y="2667000"/>
            <a:ext cx="381000" cy="304800"/>
          </a:xfrm>
          <a:prstGeom prst="rightArrow">
            <a:avLst/>
          </a:prstGeom>
          <a:solidFill>
            <a:srgbClr val="3D3D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 descr="Событие generate_lead в отчёте Realtim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1396688"/>
            <a:ext cx="1905000" cy="3963024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9525000" y="5664200"/>
            <a:ext cx="231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smtClean="0">
                <a:solidFill>
                  <a:srgbClr val="5B5B66"/>
                </a:solidFill>
                <a:latin typeface="Segoe UI" panose="020B0502040204020203" pitchFamily="34" charset="0"/>
              </a:rPr>
              <a:t>generate_lead </a:t>
            </a:r>
            <a:r>
              <a:rPr lang="ru-RU" sz="1600" smtClean="0">
                <a:solidFill>
                  <a:srgbClr val="5B5B66"/>
                </a:solidFill>
                <a:latin typeface="Segoe UI" panose="020B0502040204020203" pitchFamily="34" charset="0"/>
              </a:rPr>
              <a:t>в </a:t>
            </a:r>
            <a:r>
              <a:rPr lang="en-US" sz="1600" smtClean="0">
                <a:solidFill>
                  <a:srgbClr val="5B5B66"/>
                </a:solidFill>
                <a:latin typeface="Segoe UI" panose="020B0502040204020203" pitchFamily="34" charset="0"/>
              </a:rPr>
              <a:t>Realtime</a:t>
            </a:r>
            <a:endParaRPr lang="ru-RU" sz="16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826000"/>
            <a:ext cx="838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Одна заявка проходит весь путь: метки сохраняются в sessionStorage и уходят в таблицу вместе с бронью.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400" y="2136378"/>
            <a:ext cx="4546600" cy="146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Instagram → </a:t>
            </a:r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сайт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Комментарий ИДЕИ и ответ студии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52" y="1219201"/>
            <a:ext cx="2172995" cy="5079999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pic>
        <p:nvPicPr>
          <p:cNvPr id="4" name="Рисунок 3" descr="Сообщение в Direct с кнопкой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752" y="1219201"/>
            <a:ext cx="2172995" cy="5079999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715000" y="16510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ManyChat 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отвечает в комментариях и в 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Direct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«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ИДЕИ»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 → 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ideas.html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«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СЕМЬЯ»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 → 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photographers.html#family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ссылки кнопок — из реестра (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U-02, U-03)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7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71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GA4: </a:t>
            </a:r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события и параметры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Событие generate_lead в DebugView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15381"/>
            <a:ext cx="2921000" cy="4287637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810000" y="13208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20 событий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, своих — 14, все в 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js/analytics.js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7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пользовательских параметров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ключевые: </a:t>
            </a: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generate_lead, contact_click, messenger_click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Рисунок 4" descr="Пользовательские параметры GA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23" y="3581400"/>
            <a:ext cx="4934953" cy="271780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8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70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UTM-</a:t>
            </a:r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ссылки и публикации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419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12 ссылок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 в реестре, полная ссылка собирается формулой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опубликовано 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8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: Instagram, ВКонтакте, Telegram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QR-код U-12 на афише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Рисунок 4" descr="Пост ВКонтакте со ссылкой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688" y="1219200"/>
            <a:ext cx="2079625" cy="508000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9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34144"/>
            <a:ext cx="7057795" cy="222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6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Воронка (18–22.10.2026)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3" name="Рисунок 2" descr="Воронка с разбивкой по устройствам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54150"/>
            <a:ext cx="5080000" cy="4610100"/>
          </a:xfrm>
          <a:prstGeom prst="rect">
            <a:avLst/>
          </a:prstGeom>
          <a:ln w="12700">
            <a:solidFill>
              <a:srgbClr val="E4E0D8"/>
            </a:solidFill>
          </a:ln>
          <a:effectLst>
            <a:outerShdw blurRad="177800" dist="50800" dir="5400000" rotWithShape="0">
              <a:srgbClr val="1E1E24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045200" y="13208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page_view → hall_view → cta_click → form_start → generate_lead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наибольшая потеря на первом шаге: 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90 %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до заявки дошли: телефон 0 %, компьютер 14 %</a:t>
            </a: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Clr>
                <a:srgbClr val="3D3D9E"/>
              </a:buClr>
              <a:buFont typeface="+mj-lt"/>
              <a:buChar char="•"/>
            </a:pPr>
            <a:r>
              <a:rPr lang="en-US" sz="2000" smtClean="0">
                <a:solidFill>
                  <a:srgbClr val="1E1E24"/>
                </a:solidFill>
                <a:latin typeface="Segoe UI" panose="020B0502040204020203" pitchFamily="34" charset="0"/>
              </a:rPr>
              <a:t>Instagram 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вовлечённее прямых заходов: </a:t>
            </a:r>
            <a:r>
              <a:rPr lang="ru-RU" sz="2000" b="1" smtClean="0">
                <a:solidFill>
                  <a:srgbClr val="3D3D9E"/>
                </a:solidFill>
                <a:latin typeface="Segoe UI" panose="020B0502040204020203" pitchFamily="34" charset="0"/>
              </a:rPr>
              <a:t>67 %</a:t>
            </a:r>
            <a:r>
              <a:rPr lang="ru-RU" sz="2000" smtClean="0">
                <a:solidFill>
                  <a:srgbClr val="1E1E24"/>
                </a:solidFill>
                <a:latin typeface="Segoe UI" panose="020B0502040204020203" pitchFamily="34" charset="0"/>
              </a:rPr>
              <a:t> против 45 %</a:t>
            </a:r>
            <a:endParaRPr lang="ru-RU" sz="200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3800" y="53848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ru-RU" b="1" dirty="0">
              <a:solidFill>
                <a:srgbClr val="2E2E7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10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43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Что получил бизнес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43290"/>
              </p:ext>
            </p:extLst>
          </p:nvPr>
        </p:nvGraphicFramePr>
        <p:xfrm>
          <a:off x="609600" y="1270000"/>
          <a:ext cx="10972800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01553798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12477363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ru-RU" sz="20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Было</a:t>
                      </a:r>
                      <a:endParaRPr lang="ru-RU" sz="20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3D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Стало</a:t>
                      </a:r>
                      <a:endParaRPr lang="ru-RU" sz="20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3D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64735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свободные часы сверяют вручную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свободное время видно на сайте, занятое не выбрать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710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ответ о цене — больше часа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итог со скидкой виден до отправки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EC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2094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заявки в разных местах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все брони в одной таблице со статусом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7326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30 000 ₽ без понимания отдачи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smtClean="0">
                          <a:solidFill>
                            <a:srgbClr val="1E1E24"/>
                          </a:solidFill>
                          <a:latin typeface="Segoe UI" panose="020B0502040204020203" pitchFamily="34" charset="0"/>
                        </a:rPr>
                        <a:t>у каждой брони есть канал, кампания и пост</a:t>
                      </a:r>
                      <a:endParaRPr lang="ru-RU" sz="2000" b="0">
                        <a:solidFill>
                          <a:srgbClr val="1E1E24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52400" marT="101600" marB="101600">
                    <a:solidFill>
                      <a:srgbClr val="EC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5319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46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dirty="0" smtClean="0">
                <a:solidFill>
                  <a:srgbClr val="2E2E7A"/>
                </a:solidFill>
                <a:latin typeface="Segoe UI" panose="020B0502040204020203" pitchFamily="34" charset="0"/>
              </a:rPr>
              <a:t>Рекомендация: месяц собирать заявки с метками, затем перенести бюджет в канал с наибольшим числом броней в статусе </a:t>
            </a:r>
            <a:r>
              <a:rPr lang="ru-RU" sz="2000" dirty="0" err="1" smtClean="0">
                <a:solidFill>
                  <a:srgbClr val="2E2E7A"/>
                </a:solidFill>
                <a:latin typeface="Segoe UI" panose="020B0502040204020203" pitchFamily="34" charset="0"/>
              </a:rPr>
              <a:t>done</a:t>
            </a:r>
            <a:r>
              <a:rPr lang="ru-RU" sz="2000" dirty="0" smtClean="0">
                <a:solidFill>
                  <a:srgbClr val="2E2E7A"/>
                </a:solidFill>
                <a:latin typeface="Segoe UI" panose="020B0502040204020203" pitchFamily="34" charset="0"/>
              </a:rPr>
              <a:t>.</a:t>
            </a:r>
            <a:endParaRPr lang="ru-RU" sz="2000" dirty="0">
              <a:solidFill>
                <a:srgbClr val="2E2E7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11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32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 smtClean="0">
                <a:solidFill>
                  <a:srgbClr val="1E1E24"/>
                </a:solidFill>
                <a:latin typeface="Segoe UI Semibold" panose="020B0702040204020203" pitchFamily="34" charset="0"/>
              </a:rPr>
              <a:t>ИИ, сложности и ссылки</a:t>
            </a:r>
            <a:endParaRPr lang="ru-RU" sz="3200" b="1">
              <a:solidFill>
                <a:srgbClr val="1E1E2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320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ИИ (</a:t>
            </a:r>
            <a:r>
              <a:rPr lang="en-US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Claude Code):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код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сайта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,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тексты,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схемы.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Запросы — в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docs/prompts.md.</a:t>
            </a:r>
          </a:p>
          <a:p>
            <a:pPr>
              <a:spcAft>
                <a:spcPts val="1400"/>
              </a:spcAft>
            </a:pP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Сам: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аккаунты, публикации в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Instagram, </a:t>
            </a: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ВКонтакте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и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Telegram,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автоответы </a:t>
            </a:r>
            <a:r>
              <a:rPr lang="en-US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ManyChat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,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en-US" sz="2000" dirty="0">
                <a:solidFill>
                  <a:srgbClr val="1E1E24"/>
                </a:solidFill>
                <a:latin typeface="Segoe UI" panose="020B0502040204020203" pitchFamily="34" charset="0"/>
              </a:rPr>
              <a:t>Apps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Script</a:t>
            </a:r>
            <a:r>
              <a:rPr lang="ru-RU" sz="2000" dirty="0">
                <a:solidFill>
                  <a:srgbClr val="1E1E24"/>
                </a:solidFill>
                <a:latin typeface="Segoe UI" panose="020B0502040204020203" pitchFamily="34" charset="0"/>
              </a:rPr>
              <a:t>,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проверки с телефона</a:t>
            </a:r>
            <a:r>
              <a:rPr lang="ru-RU" sz="2000" dirty="0">
                <a:solidFill>
                  <a:srgbClr val="1E1E24"/>
                </a:solidFill>
                <a:latin typeface="Segoe UI" panose="020B0502040204020203" pitchFamily="34" charset="0"/>
              </a:rPr>
              <a:t>, презентация, настройка отчётов </a:t>
            </a:r>
            <a:r>
              <a:rPr lang="en-US" sz="2000" dirty="0">
                <a:solidFill>
                  <a:srgbClr val="1E1E24"/>
                </a:solidFill>
                <a:latin typeface="Segoe UI" panose="020B0502040204020203" pitchFamily="34" charset="0"/>
              </a:rPr>
              <a:t>GA4.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Сложно: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блокировки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Instagram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и </a:t>
            </a:r>
            <a:r>
              <a:rPr lang="en-US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ManyChat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,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события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GA4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с телефона через 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VPN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не доходили.</a:t>
            </a:r>
          </a:p>
          <a:p>
            <a:pPr>
              <a:spcAft>
                <a:spcPts val="1400"/>
              </a:spcAft>
            </a:pPr>
            <a:r>
              <a:rPr lang="ru-RU" sz="2000" b="1" dirty="0" smtClean="0">
                <a:solidFill>
                  <a:srgbClr val="3D3D9E"/>
                </a:solidFill>
                <a:latin typeface="Segoe UI" panose="020B0502040204020203" pitchFamily="34" charset="0"/>
              </a:rPr>
              <a:t>Не сделано: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ru-RU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дашборд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 </a:t>
            </a:r>
            <a:r>
              <a:rPr lang="en-US" sz="2000" dirty="0" err="1" smtClean="0">
                <a:solidFill>
                  <a:srgbClr val="1E1E24"/>
                </a:solidFill>
                <a:latin typeface="Segoe UI" panose="020B0502040204020203" pitchFamily="34" charset="0"/>
              </a:rPr>
              <a:t>DataLens</a:t>
            </a:r>
            <a:r>
              <a:rPr lang="en-US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, YouTube </a:t>
            </a:r>
            <a:r>
              <a:rPr lang="ru-RU" sz="2000" dirty="0" smtClean="0">
                <a:solidFill>
                  <a:srgbClr val="1E1E24"/>
                </a:solidFill>
                <a:latin typeface="Segoe UI" panose="020B0502040204020203" pitchFamily="34" charset="0"/>
              </a:rPr>
              <a:t>и партнёры.</a:t>
            </a:r>
            <a:endParaRPr lang="ru-RU" sz="2000" dirty="0">
              <a:solidFill>
                <a:srgbClr val="1E1E24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255000" y="1320800"/>
            <a:ext cx="3327400" cy="419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5400000" rotWithShape="0">
              <a:srgbClr val="1E1E24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QR-код на репозиторий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15748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07400" y="4038600"/>
            <a:ext cx="302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smtClean="0">
                <a:solidFill>
                  <a:srgbClr val="5B5B66"/>
                </a:solidFill>
                <a:latin typeface="Segoe UI" panose="020B0502040204020203" pitchFamily="34" charset="0"/>
              </a:rPr>
              <a:t>github.com/vadimshadowmantle/</a:t>
            </a:r>
          </a:p>
          <a:p>
            <a:pPr algn="ctr"/>
            <a:r>
              <a:rPr lang="en-US" sz="1400" smtClean="0">
                <a:solidFill>
                  <a:srgbClr val="5B5B66"/>
                </a:solidFill>
                <a:latin typeface="Segoe UI" panose="020B0502040204020203" pitchFamily="34" charset="0"/>
              </a:rPr>
              <a:t>tz-14-fotostudiya-kadr35</a:t>
            </a:r>
            <a:endParaRPr lang="ru-RU" sz="14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07400" y="4826000"/>
            <a:ext cx="302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 smtClean="0">
                <a:solidFill>
                  <a:srgbClr val="3D3D9E"/>
                </a:solidFill>
                <a:latin typeface="Segoe UI" panose="020B0502040204020203" pitchFamily="34" charset="0"/>
              </a:rPr>
              <a:t>tz-14-fotostudiya-kadr35.vercel.app</a:t>
            </a:r>
            <a:endParaRPr lang="ru-RU" sz="1400" b="1">
              <a:solidFill>
                <a:srgbClr val="3D3D9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Кадр 35 · ТЗ-14/2026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4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200" smtClean="0">
                <a:solidFill>
                  <a:srgbClr val="5B5B66"/>
                </a:solidFill>
                <a:latin typeface="Segoe UI" panose="020B0502040204020203" pitchFamily="34" charset="0"/>
              </a:rPr>
              <a:t>12</a:t>
            </a:r>
            <a:endParaRPr lang="ru-RU" sz="1200">
              <a:solidFill>
                <a:srgbClr val="5B5B6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870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1046</Words>
  <Application>Microsoft Office PowerPoint</Application>
  <PresentationFormat>Широкоэкранный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Segoe UI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HYPERPC</dc:creator>
  <cp:lastModifiedBy>HYPERPC</cp:lastModifiedBy>
  <cp:revision>4</cp:revision>
  <dcterms:created xsi:type="dcterms:W3CDTF">2026-10-28T22:59:15Z</dcterms:created>
  <dcterms:modified xsi:type="dcterms:W3CDTF">2026-10-31T20:16:55Z</dcterms:modified>
</cp:coreProperties>
</file>