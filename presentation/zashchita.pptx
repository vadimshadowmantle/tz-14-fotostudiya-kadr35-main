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0" d="100"/>
          <a:sy n="160" d="100"/>
        </p:scale>
        <p:origin x="29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332B7-93F2-4450-B263-842CDF9D5BA6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79AF6-F053-40E4-8472-E15365A642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322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Здравствуйте. Моя работа — сайт бронирования залов для фотостудии «Кадр 35» и сквозная аналитика заявок: от перехода по ссылке в соцсети до строки в таблице. Расскажу, какую проблему решал, как устроено решение и что показали данные.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492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Брони велись вручную в календаре администратора, заявки приходили в </a:t>
            </a:r>
            <a:r>
              <a:rPr lang="ru-RU" dirty="0" err="1" smtClean="0"/>
              <a:t>Instagram</a:t>
            </a:r>
            <a:r>
              <a:rPr lang="ru-RU" dirty="0" smtClean="0"/>
              <a:t>, </a:t>
            </a:r>
            <a:r>
              <a:rPr lang="ru-RU" dirty="0" err="1" smtClean="0"/>
              <a:t>Telegram</a:t>
            </a:r>
            <a:r>
              <a:rPr lang="ru-RU" dirty="0" smtClean="0"/>
              <a:t> и по телефону. Отсюда двойные брони и долгие ответы. Студия тратит 30 тысяч в месяц на продвижение, но не знает, какой канал приносит клиентов. А Новогодний зал в прошлом декабре был занят почти полностью — значит, спрос есть, нужна удобная бронь.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292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Посетитель приходит из </a:t>
            </a:r>
            <a:r>
              <a:rPr lang="ru-RU" dirty="0" err="1" smtClean="0"/>
              <a:t>соцсетей</a:t>
            </a:r>
            <a:r>
              <a:rPr lang="ru-RU" dirty="0" smtClean="0"/>
              <a:t> или по QR-коду по ссылке с UTM-метками, либо получает ссылку в </a:t>
            </a:r>
            <a:r>
              <a:rPr lang="ru-RU" dirty="0" err="1" smtClean="0"/>
              <a:t>Direct</a:t>
            </a:r>
            <a:r>
              <a:rPr lang="ru-RU" dirty="0" smtClean="0"/>
              <a:t> от автоответа </a:t>
            </a:r>
            <a:r>
              <a:rPr lang="ru-RU" dirty="0" err="1" smtClean="0"/>
              <a:t>ManyChat</a:t>
            </a:r>
            <a:r>
              <a:rPr lang="ru-RU" dirty="0" smtClean="0"/>
              <a:t>. Сайт отправляет события в </a:t>
            </a:r>
            <a:r>
              <a:rPr lang="ru-RU" dirty="0" err="1" smtClean="0"/>
              <a:t>Google</a:t>
            </a:r>
            <a:r>
              <a:rPr lang="ru-RU" dirty="0" smtClean="0"/>
              <a:t> </a:t>
            </a:r>
            <a:r>
              <a:rPr lang="ru-RU" dirty="0" err="1" smtClean="0"/>
              <a:t>Analytics</a:t>
            </a:r>
            <a:r>
              <a:rPr lang="ru-RU" dirty="0" smtClean="0"/>
              <a:t> 4, а бронь — через </a:t>
            </a:r>
            <a:r>
              <a:rPr lang="ru-RU" dirty="0" err="1" smtClean="0"/>
              <a:t>Apps</a:t>
            </a:r>
            <a:r>
              <a:rPr lang="ru-RU" dirty="0" smtClean="0"/>
              <a:t> </a:t>
            </a:r>
            <a:r>
              <a:rPr lang="ru-RU" dirty="0" err="1" smtClean="0"/>
              <a:t>Script</a:t>
            </a:r>
            <a:r>
              <a:rPr lang="ru-RU" dirty="0" smtClean="0"/>
              <a:t> в </a:t>
            </a:r>
            <a:r>
              <a:rPr lang="ru-RU" dirty="0" err="1" smtClean="0"/>
              <a:t>Google</a:t>
            </a:r>
            <a:r>
              <a:rPr lang="ru-RU" dirty="0" smtClean="0"/>
              <a:t> Таблицу вместе с метками. Так у каждой заявки виден источник.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882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Сайт статический: HTML, CSS и JavaScript без сборки, опубликован на Vercel и обновляется после каждого push. Девять страниц плюс 404, адаптивность под телефон. Lighthouse в мобильном режиме: производительность 83, доступность и SEO по 100.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8932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Главная страница сценария — бронь. Посетитель выбирает зал, дату, время и число часов, занятые часы выбрать нельзя. Цена считается по часам: утром в будни скидка 20 процентов. Пример из испытаний: Циклорама, 10 утра, 2 часа — 3 520 рублей, и в GA4 приходит событие slot_select с этой суммой.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6803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Здесь путь одной заявки. Человек приходит по ссылке с UTM-метками, сайт сохраняет их на время сессии, и при отправке формы они попадают в таблицу вместе с бронью. После ответа приёмника ok:true в GA4 уходит ключевое событие generate_lead. Это можно показать вживую.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473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Под </a:t>
            </a:r>
            <a:r>
              <a:rPr lang="ru-RU" dirty="0" err="1" smtClean="0"/>
              <a:t>Reel</a:t>
            </a:r>
            <a:r>
              <a:rPr lang="ru-RU" dirty="0" smtClean="0"/>
              <a:t> работают две ветки автоответов </a:t>
            </a:r>
            <a:r>
              <a:rPr lang="ru-RU" dirty="0" err="1" smtClean="0"/>
              <a:t>ManyChat</a:t>
            </a:r>
            <a:r>
              <a:rPr lang="ru-RU" dirty="0" smtClean="0"/>
              <a:t>. На слово ИДЕИ человек получает ответ в комментариях и сообщение в </a:t>
            </a:r>
            <a:r>
              <a:rPr lang="ru-RU" dirty="0" err="1" smtClean="0"/>
              <a:t>Direct</a:t>
            </a:r>
            <a:r>
              <a:rPr lang="ru-RU" dirty="0" smtClean="0"/>
              <a:t> с кнопкой на страницу идей, на слово СЕМЬЯ — на семейных фотографов с уже включённым фильтром. Ссылки кнопок взяты из реестра UTM, поэтому в таблице видно, какая ветка привела заявку.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5244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В GA4 настроено 20 событий, 14 из них свои. Все вызовы собраны в одном файле analytics.js, кнопки размечены атрибутами data-event. Зарегистрировано 7 пользовательских параметров, ключевые события — заявка, клик по контакту и по мессенджеру. Каждое событие проверено в DebugView.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9390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Все ссылки собраны в реестре: 12 строк, у каждой своя комбинация меток. Восемь опубликованы — в Instagram, ВКонтакте и Telegram, для афиши сделан QR-код. По заявкам из ВКонтакте в таблице видно, с какого именно поста пришёл человек.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57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Воронка из пяти шагов показала главную потерю на первом шаге: девять из десяти посетителей не открывают ни одной карточки зала. На телефоне до заявки не дошёл никто, на компьютере — один из семи. Гипотеза: на телефоне не видно, где выбрать зал. Проверить можно, добавив кнопку на первый экран и сравнив воронку по устройствам до и после. Данных мало, все визиты — проверочные, это ограничение.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0199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Итог для бизнеса: свободное время видно на сайте, цена считается сразу, все брони в одной таблице со статусом, а у каждой брони есть канал и конкретный пост. Рекомендация: месяц собирать заявки с метками и потом перераспределить бюджет в канал, который даёт больше всего состоявшихся броней.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8300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895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232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558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1531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725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279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09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8787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9966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809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9287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74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E1660-7F06-4EE5-BCB1-0847768AFA7E}" type="datetimeFigureOut">
              <a:rPr lang="ru-RU" smtClean="0"/>
              <a:t>29.10.2026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782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D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Новогодний зал студии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5969000" cy="6858000"/>
          </a:xfrm>
          <a:prstGeom prst="rect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09600" y="609600"/>
            <a:ext cx="711200" cy="711200"/>
          </a:xfrm>
          <a:prstGeom prst="roundRect">
            <a:avLst>
              <a:gd name="adj" fmla="val 22000"/>
            </a:avLst>
          </a:prstGeom>
          <a:solidFill>
            <a:srgbClr val="2E2E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smtClean="0">
                <a:solidFill>
                  <a:srgbClr val="F2C14E"/>
                </a:solidFill>
                <a:latin typeface="Segoe UI Semibold" panose="020B0702040204020203" pitchFamily="34" charset="0"/>
              </a:rPr>
              <a:t>35</a:t>
            </a:r>
            <a:endParaRPr lang="ru-RU" sz="2200" b="1">
              <a:solidFill>
                <a:srgbClr val="F2C14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1778000"/>
            <a:ext cx="4811059" cy="190948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 dirty="0" smtClean="0">
                <a:solidFill>
                  <a:srgbClr val="FFFFFF"/>
                </a:solidFill>
                <a:latin typeface="Segoe UI Semibold" panose="020B0702040204020203" pitchFamily="34" charset="0"/>
              </a:rPr>
              <a:t>Сайт бронирования залов и сквозная аналитика заявок для фотостудии «Кадр 35»</a:t>
            </a:r>
            <a:endParaRPr lang="ru-RU" sz="30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09600" y="4191000"/>
            <a:ext cx="4953000" cy="4318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ТЗ № ТЗ-14/2026 · ОП.03</a:t>
            </a:r>
            <a:endParaRPr lang="ru-RU" sz="1600" b="1" dirty="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599" y="4978399"/>
            <a:ext cx="4996329" cy="6932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dirty="0" smtClean="0">
                <a:solidFill>
                  <a:srgbClr val="ECEAF6"/>
                </a:solidFill>
                <a:latin typeface="Segoe UI" panose="020B0502040204020203" pitchFamily="34" charset="0"/>
              </a:rPr>
              <a:t>Бурмистров Вадим Александрович</a:t>
            </a:r>
          </a:p>
          <a:p>
            <a:r>
              <a:rPr lang="ru-RU" sz="2000" dirty="0" smtClean="0">
                <a:solidFill>
                  <a:srgbClr val="ECEAF6"/>
                </a:solidFill>
                <a:latin typeface="Segoe UI" panose="020B0502040204020203" pitchFamily="34" charset="0"/>
              </a:rPr>
              <a:t>группа 11/1-РПО-26/1</a:t>
            </a:r>
            <a:endParaRPr lang="ru-RU" sz="2000" dirty="0">
              <a:solidFill>
                <a:srgbClr val="ECEAF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CFCDE0"/>
                </a:solidFill>
                <a:latin typeface="Segoe UI" panose="020B0502040204020203" pitchFamily="34" charset="0"/>
              </a:rPr>
              <a:t>1</a:t>
            </a:r>
            <a:endParaRPr lang="ru-RU" sz="1200">
              <a:solidFill>
                <a:srgbClr val="CFCDE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12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Проблема заказчика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14224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914400" y="1676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2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двойные брони одного зала в сентябре 2026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172200" y="14224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6477000" y="1676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≈ 60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77000" y="2514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вопросов о свободном времени — ответ позже чем через час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09600" y="36576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914400" y="3911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30 000 ₽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7498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в месяц на продвижение без понимания, какой канал приводит брони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172200" y="36576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6477000" y="3911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94 %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77000" y="47498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часов Новогоднего зала было занято в декабре 2025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2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994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Схема решения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Схема работы: соцсети и QR → сайт → GA4 и Google Таблица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889" y="1270000"/>
            <a:ext cx="8918222" cy="50165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3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39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Сайт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Главная страница на компьютере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76363"/>
            <a:ext cx="5715000" cy="3571875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pic>
        <p:nvPicPr>
          <p:cNvPr id="4" name="Рисунок 3" descr="Главная страница на телефоне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800" y="1671320"/>
            <a:ext cx="1905000" cy="412496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763000" y="1524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9 страниц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и 404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Vercel, обновление после push в main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Lighthouse на телефоне: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83 · 100 · 100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создан с помощью Claude Code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4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161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Бронь: свободные часы и цена сразу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Расчёт брони на странице контактов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93" y="1270000"/>
            <a:ext cx="5589814" cy="50165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959600" y="1524000"/>
            <a:ext cx="469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занятое время выбрать нельзя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скидка 20 % в будни с 09:00 до 12:00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Циклорама, будни, 10:00, 2 часа: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2 × 2 200 × 0,8 = 3 520 ₽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Новогодний зал — только 01.12–10.01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5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889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Путь заявки: источник не теряется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Адрес страницы с UTM-метками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36378"/>
            <a:ext cx="2921000" cy="1442244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9600" y="3962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ссылка с </a:t>
            </a:r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UTM-</a:t>
            </a:r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метками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Стрелка вправо 4"/>
          <p:cNvSpPr/>
          <p:nvPr/>
        </p:nvSpPr>
        <p:spPr>
          <a:xfrm>
            <a:off x="3683000" y="2667000"/>
            <a:ext cx="381000" cy="304800"/>
          </a:xfrm>
          <a:prstGeom prst="rightArrow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216400" y="3962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строка в листе leads с метками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9194800" y="2667000"/>
            <a:ext cx="381000" cy="304800"/>
          </a:xfrm>
          <a:prstGeom prst="rightArrow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 descr="Событие generate_lead в отчёте Realtime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6688"/>
            <a:ext cx="1905000" cy="3963024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9525000" y="56642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generate_lead </a:t>
            </a:r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в </a:t>
            </a:r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Realtime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4826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Одна заявка проходит весь путь: метки сохраняются в sessionStorage и уходят в таблицу вместе с бронью.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2136378"/>
            <a:ext cx="4546600" cy="146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Instagram → 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сайт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Комментарий ИДЕИ и ответ студии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52" y="1219201"/>
            <a:ext cx="2172995" cy="5079999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pic>
        <p:nvPicPr>
          <p:cNvPr id="4" name="Рисунок 3" descr="Сообщение в Direct с кнопкой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752" y="1219201"/>
            <a:ext cx="2172995" cy="5079999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715000" y="1651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ManyChat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отвечает в комментариях и в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Direct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«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ИДЕИ»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→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ideas.html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«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СЕМЬЯ»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→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photographers.html#family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ссылки кнопок — из реестра (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U-02, U-03)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7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171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GA4: 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события и параметры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Событие generate_lead в DebugView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615381"/>
            <a:ext cx="2921000" cy="4287637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3810000" y="1320800"/>
            <a:ext cx="774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20 событий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, своих — 14, все в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js/analytics.js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7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пользовательских параметров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ключевые: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generate_lead, contact_click, messenger_click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Рисунок 4" descr="Пользовательские параметры GA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023" y="3581400"/>
            <a:ext cx="4934953" cy="27178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8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0700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UTM-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ссылки и публикации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4191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12 ссылок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в реестре, полная ссылка собирается формулой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опубликовано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8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: Instagram, ВКонтакте, Telegram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QR-код U-12 на афише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Рисунок 4" descr="Пост ВКонтакте со ссылкой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688" y="1219200"/>
            <a:ext cx="2079625" cy="50800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9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34144"/>
            <a:ext cx="7057795" cy="2225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760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Воронка (18–22.10.2026)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Воронка с разбивкой по устройствам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54150"/>
            <a:ext cx="5080000" cy="46101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45200" y="13208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page_view → hall_view → cta_click → form_start → generate_lead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наибольшая потеря на первом шаге: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90 %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до заявки дошли: телефон 0 %, компьютер 14 %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Instagram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вовлечённее прямых заходов: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67 %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против 45 %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73800" y="53848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ru-RU" b="1" dirty="0">
              <a:solidFill>
                <a:srgbClr val="2E2E7A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10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743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Что получил бизнес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743290"/>
              </p:ext>
            </p:extLst>
          </p:nvPr>
        </p:nvGraphicFramePr>
        <p:xfrm>
          <a:off x="609600" y="1270000"/>
          <a:ext cx="10972800" cy="386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015537988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12477363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ru-RU" sz="20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Было</a:t>
                      </a:r>
                      <a:endParaRPr lang="ru-RU" sz="20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3D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Стало</a:t>
                      </a:r>
                      <a:endParaRPr lang="ru-RU" sz="20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3D3D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647358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свободные часы сверяют вручную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свободное время видно на сайте, занятое не выбрать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67109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ответ о цене — больше часа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итог со скидкой виден до отправки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20942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заявки в разных местах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все брони в одной таблице со статусом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73264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30 000 ₽ без понимания отдачи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у каждой брони есть канал, кампания и пост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53191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9600" y="546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dirty="0" smtClean="0">
                <a:solidFill>
                  <a:srgbClr val="2E2E7A"/>
                </a:solidFill>
                <a:latin typeface="Segoe UI" panose="020B0502040204020203" pitchFamily="34" charset="0"/>
              </a:rPr>
              <a:t>Рекомендация: месяц собирать заявки с метками, затем перенести бюджет в канал с наибольшим числом броней в статусе </a:t>
            </a:r>
            <a:r>
              <a:rPr lang="ru-RU" sz="2000" dirty="0" err="1" smtClean="0">
                <a:solidFill>
                  <a:srgbClr val="2E2E7A"/>
                </a:solidFill>
                <a:latin typeface="Segoe UI" panose="020B0502040204020203" pitchFamily="34" charset="0"/>
              </a:rPr>
              <a:t>done</a:t>
            </a:r>
            <a:r>
              <a:rPr lang="ru-RU" sz="2000" dirty="0" smtClean="0">
                <a:solidFill>
                  <a:srgbClr val="2E2E7A"/>
                </a:solidFill>
                <a:latin typeface="Segoe UI" panose="020B0502040204020203" pitchFamily="34" charset="0"/>
              </a:rPr>
              <a:t>.</a:t>
            </a:r>
            <a:endParaRPr lang="ru-RU" sz="2000" dirty="0">
              <a:solidFill>
                <a:srgbClr val="2E2E7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11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332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ИИ, сложности и ссылки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600" y="13208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ИИ (</a:t>
            </a:r>
            <a:r>
              <a:rPr lang="en-US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Claude Code):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код сайта и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Apps Script,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тексты, схемы,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описание. Запросы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— в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docs/prompts.md.</a:t>
            </a: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Сам: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аккаунты,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публикации в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Instagram,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ВКонтакте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и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Telegram,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автоответы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ManyChat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проверки с телефона</a:t>
            </a:r>
            <a:r>
              <a:rPr lang="ru-RU" sz="2000" dirty="0">
                <a:solidFill>
                  <a:srgbClr val="1E1E24"/>
                </a:solidFill>
                <a:latin typeface="Segoe UI" panose="020B0502040204020203" pitchFamily="34" charset="0"/>
              </a:rPr>
              <a:t>, презентация, настройка отчётов </a:t>
            </a:r>
            <a:r>
              <a:rPr lang="en-US" sz="2000" dirty="0">
                <a:solidFill>
                  <a:srgbClr val="1E1E24"/>
                </a:solidFill>
                <a:latin typeface="Segoe UI" panose="020B0502040204020203" pitchFamily="34" charset="0"/>
              </a:rPr>
              <a:t>GA4.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.</a:t>
            </a:r>
            <a:endParaRPr lang="ru-RU" sz="2000" dirty="0" smtClean="0">
              <a:solidFill>
                <a:srgbClr val="1E1E24"/>
              </a:solidFill>
              <a:latin typeface="Segoe UI" panose="020B0502040204020203" pitchFamily="34" charset="0"/>
            </a:endParaRP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Сложно: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блокировки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Instagram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и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ManyChat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события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GA4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с телефона через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VPN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не доходили.</a:t>
            </a: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Не сделано: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дашборд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DataLens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YouTube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и партнёры.</a:t>
            </a:r>
            <a:endParaRPr lang="ru-RU" sz="2000" dirty="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8255000" y="1320800"/>
            <a:ext cx="3327400" cy="419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 descr="QR-код на репозиторий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5700" y="157480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07400" y="4038600"/>
            <a:ext cx="3022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smtClean="0">
                <a:solidFill>
                  <a:srgbClr val="5B5B66"/>
                </a:solidFill>
                <a:latin typeface="Segoe UI" panose="020B0502040204020203" pitchFamily="34" charset="0"/>
              </a:rPr>
              <a:t>github.com/vadimshadowmantle/</a:t>
            </a:r>
          </a:p>
          <a:p>
            <a:pPr algn="ctr"/>
            <a:r>
              <a:rPr lang="en-US" sz="1400" smtClean="0">
                <a:solidFill>
                  <a:srgbClr val="5B5B66"/>
                </a:solidFill>
                <a:latin typeface="Segoe UI" panose="020B0502040204020203" pitchFamily="34" charset="0"/>
              </a:rPr>
              <a:t>tz-14-fotostudiya-kadr35</a:t>
            </a:r>
            <a:endParaRPr lang="ru-RU" sz="14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07400" y="4826000"/>
            <a:ext cx="3022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 smtClean="0">
                <a:solidFill>
                  <a:srgbClr val="3D3D9E"/>
                </a:solidFill>
                <a:latin typeface="Segoe UI" panose="020B0502040204020203" pitchFamily="34" charset="0"/>
              </a:rPr>
              <a:t>tz-14-fotostudiya-kadr35.vercel.app</a:t>
            </a:r>
            <a:endParaRPr lang="ru-RU" sz="1400" b="1">
              <a:solidFill>
                <a:srgbClr val="3D3D9E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12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8703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1048</Words>
  <Application>Microsoft Office PowerPoint</Application>
  <PresentationFormat>Широкоэкранный</PresentationFormat>
  <Paragraphs>114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Segoe UI Semibold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HYPERPC</dc:creator>
  <cp:lastModifiedBy>HYPERPC</cp:lastModifiedBy>
  <cp:revision>2</cp:revision>
  <dcterms:created xsi:type="dcterms:W3CDTF">2026-10-28T22:59:15Z</dcterms:created>
  <dcterms:modified xsi:type="dcterms:W3CDTF">2026-10-28T23:12:30Z</dcterms:modified>
</cp:coreProperties>
</file>